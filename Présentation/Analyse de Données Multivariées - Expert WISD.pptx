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88" r:id="rId10"/>
    <p:sldId id="289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86" r:id="rId20"/>
    <p:sldId id="272" r:id="rId21"/>
    <p:sldId id="273" r:id="rId22"/>
    <p:sldId id="274" r:id="rId23"/>
    <p:sldId id="275" r:id="rId24"/>
    <p:sldId id="287" r:id="rId25"/>
    <p:sldId id="276" r:id="rId26"/>
    <p:sldId id="277" r:id="rId27"/>
    <p:sldId id="278" r:id="rId28"/>
    <p:sldId id="279" r:id="rId29"/>
    <p:sldId id="280" r:id="rId30"/>
    <p:sldId id="284" r:id="rId31"/>
    <p:sldId id="285" r:id="rId32"/>
  </p:sldIdLst>
  <p:sldSz cx="12192000" cy="6858000"/>
  <p:notesSz cx="6858000" cy="9144000"/>
  <p:embeddedFontLst>
    <p:embeddedFont>
      <p:font typeface="Bahnschrift" panose="020B0502040204020203" pitchFamily="34" charset="0"/>
      <p:regular r:id="rId34"/>
      <p:bold r:id="rId35"/>
    </p:embeddedFont>
    <p:embeddedFont>
      <p:font typeface="DM Sans" pitchFamily="2" charset="0"/>
      <p:regular r:id="rId36"/>
      <p:bold r:id="rId37"/>
      <p:italic r:id="rId38"/>
      <p:boldItalic r:id="rId39"/>
    </p:embeddedFont>
    <p:embeddedFont>
      <p:font typeface="Montserrat" panose="00000500000000000000" pitchFamily="2" charset="0"/>
      <p:regular r:id="rId40"/>
      <p:bold r:id="rId41"/>
      <p:italic r:id="rId42"/>
      <p:boldItalic r:id="rId43"/>
    </p:embeddedFont>
    <p:embeddedFont>
      <p:font typeface="Open Sans" panose="020B0606030504020204" pitchFamily="34" charset="0"/>
      <p:regular r:id="rId44"/>
      <p:bold r:id="rId45"/>
      <p:italic r:id="rId46"/>
      <p:boldItalic r:id="rId4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133A3B1-2AAF-4FDF-9837-24344F116CD6}">
  <a:tblStyle styleId="{8133A3B1-2AAF-4FDF-9837-24344F116CD6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600" autoAdjust="0"/>
    <p:restoredTop sz="86385" autoAdjust="0"/>
  </p:normalViewPr>
  <p:slideViewPr>
    <p:cSldViewPr snapToGrid="0">
      <p:cViewPr>
        <p:scale>
          <a:sx n="66" d="100"/>
          <a:sy n="66" d="100"/>
        </p:scale>
        <p:origin x="532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176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6.fntdata"/><Relationship Id="rId21" Type="http://schemas.openxmlformats.org/officeDocument/2006/relationships/slide" Target="slides/slide20.xml"/><Relationship Id="rId34" Type="http://schemas.openxmlformats.org/officeDocument/2006/relationships/font" Target="fonts/font1.fntdata"/><Relationship Id="rId42" Type="http://schemas.openxmlformats.org/officeDocument/2006/relationships/font" Target="fonts/font9.fntdata"/><Relationship Id="rId47" Type="http://schemas.openxmlformats.org/officeDocument/2006/relationships/font" Target="fonts/font14.fntdata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4.fntdata"/><Relationship Id="rId40" Type="http://schemas.openxmlformats.org/officeDocument/2006/relationships/font" Target="fonts/font7.fntdata"/><Relationship Id="rId45" Type="http://schemas.openxmlformats.org/officeDocument/2006/relationships/font" Target="fonts/font12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3.fntdata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2.fntdata"/><Relationship Id="rId43" Type="http://schemas.openxmlformats.org/officeDocument/2006/relationships/font" Target="fonts/font10.fntdata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font" Target="fonts/font5.fntdata"/><Relationship Id="rId46" Type="http://schemas.openxmlformats.org/officeDocument/2006/relationships/font" Target="fonts/font13.fntdata"/><Relationship Id="rId20" Type="http://schemas.openxmlformats.org/officeDocument/2006/relationships/slide" Target="slides/slide19.xml"/><Relationship Id="rId41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6" name="Google Shape;11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6" name="Google Shape;28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" name="Google Shape;324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1" name="Google Shape;341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6" name="Google Shape;356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8" name="Google Shape;378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95" name="Google Shape;39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0" name="Google Shape;410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26" name="Google Shape;426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5" name="Google Shape;445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1" name="Google Shape;461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9" name="Google Shape;479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3" name="Google Shape;543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1" name="Google Shape;551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2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29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2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Relationship Id="rId9" Type="http://schemas.openxmlformats.org/officeDocument/2006/relationships/image" Target="../media/image3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9.pn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2.pn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Relationship Id="rId9" Type="http://schemas.openxmlformats.org/officeDocument/2006/relationships/image" Target="../media/image3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1028700" y="1307008"/>
            <a:ext cx="11121390" cy="23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10000"/>
              </a:lnSpc>
            </a:pPr>
            <a:r>
              <a:rPr lang="en-US" dirty="0"/>
              <a:t> </a:t>
            </a:r>
            <a:endParaRPr dirty="0">
              <a:solidFill>
                <a:srgbClr val="00B0F0"/>
              </a:solidFill>
            </a:endParaRPr>
          </a:p>
        </p:txBody>
      </p:sp>
      <p:pic>
        <p:nvPicPr>
          <p:cNvPr id="11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86;p13"/>
          <p:cNvSpPr txBox="1"/>
          <p:nvPr/>
        </p:nvSpPr>
        <p:spPr>
          <a:xfrm>
            <a:off x="885349" y="1626840"/>
            <a:ext cx="10421400" cy="6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D4AF37"/>
                </a:solidFill>
                <a:latin typeface="Montserrat"/>
                <a:ea typeface="Montserrat"/>
                <a:cs typeface="Montserrat"/>
                <a:sym typeface="Montserrat"/>
              </a:rPr>
              <a:t>Analyse de Données Multivariées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885349" y="2512665"/>
            <a:ext cx="10421400" cy="3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De la Complexité à la Décision Stratégique</a:t>
            </a:r>
            <a:endParaRPr/>
          </a:p>
        </p:txBody>
      </p:sp>
      <p:sp>
        <p:nvSpPr>
          <p:cNvPr id="88" name="Google Shape;88;p13"/>
          <p:cNvSpPr/>
          <p:nvPr/>
        </p:nvSpPr>
        <p:spPr>
          <a:xfrm>
            <a:off x="5223776" y="3137240"/>
            <a:ext cx="952500" cy="38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737426" y="3990415"/>
            <a:ext cx="99252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1570034" y="3478948"/>
            <a:ext cx="83154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Master WISD  2025-2026</a:t>
            </a:r>
            <a:endParaRPr dirty="0"/>
          </a:p>
        </p:txBody>
      </p:sp>
      <p:sp>
        <p:nvSpPr>
          <p:cNvPr id="91" name="Google Shape;91;p13"/>
          <p:cNvSpPr txBox="1"/>
          <p:nvPr/>
        </p:nvSpPr>
        <p:spPr>
          <a:xfrm>
            <a:off x="1709275" y="3810000"/>
            <a:ext cx="4386725" cy="2769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2000" b="1" dirty="0" err="1">
                <a:solidFill>
                  <a:srgbClr val="FFC000"/>
                </a:solidFill>
                <a:latin typeface="Bahnschrift" panose="020B0502040204020203" pitchFamily="34" charset="0"/>
              </a:rPr>
              <a:t>Réalisée</a:t>
            </a:r>
            <a:r>
              <a:rPr lang="en-US" sz="2000" b="1" dirty="0">
                <a:solidFill>
                  <a:srgbClr val="FFC000"/>
                </a:solidFill>
                <a:latin typeface="Bahnschrift" panose="020B0502040204020203" pitchFamily="34" charset="0"/>
              </a:rPr>
              <a:t> par :</a:t>
            </a:r>
            <a:endParaRPr sz="2000" b="1" dirty="0">
              <a:solidFill>
                <a:srgbClr val="FFC000"/>
              </a:solidFill>
              <a:latin typeface="Bahnschrift" panose="020B0502040204020203" pitchFamily="34" charset="0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Bahnschrift" panose="020B0502040204020203" pitchFamily="34" charset="0"/>
              </a:rPr>
              <a:t>Yahia Khroufi</a:t>
            </a:r>
            <a:br>
              <a:rPr lang="en-US" sz="2000" dirty="0">
                <a:solidFill>
                  <a:schemeClr val="bg1">
                    <a:lumMod val="85000"/>
                  </a:schemeClr>
                </a:solidFill>
                <a:latin typeface="Bahnschrift" panose="020B0502040204020203" pitchFamily="34" charset="0"/>
              </a:rPr>
            </a:br>
            <a:endParaRPr sz="2000" dirty="0">
              <a:solidFill>
                <a:schemeClr val="bg1">
                  <a:lumMod val="85000"/>
                </a:schemeClr>
              </a:solidFill>
              <a:latin typeface="Bahnschrift" panose="020B0502040204020203" pitchFamily="34" charset="0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Bahnschrift" panose="020B0502040204020203" pitchFamily="34" charset="0"/>
              </a:rPr>
              <a:t>Abdelhamid </a:t>
            </a:r>
            <a:r>
              <a:rPr lang="en-US" sz="2000" dirty="0" err="1">
                <a:solidFill>
                  <a:schemeClr val="bg1">
                    <a:lumMod val="85000"/>
                  </a:schemeClr>
                </a:solidFill>
                <a:latin typeface="Bahnschrift" panose="020B0502040204020203" pitchFamily="34" charset="0"/>
              </a:rPr>
              <a:t>Nfissi</a:t>
            </a:r>
            <a:br>
              <a:rPr lang="en-US" sz="2000" dirty="0">
                <a:solidFill>
                  <a:schemeClr val="bg1">
                    <a:lumMod val="85000"/>
                  </a:schemeClr>
                </a:solidFill>
                <a:latin typeface="Bahnschrift" panose="020B0502040204020203" pitchFamily="34" charset="0"/>
              </a:rPr>
            </a:br>
            <a:endParaRPr sz="2000" dirty="0">
              <a:solidFill>
                <a:schemeClr val="bg1">
                  <a:lumMod val="85000"/>
                </a:schemeClr>
              </a:solidFill>
              <a:latin typeface="Bahnschrift" panose="020B0502040204020203" pitchFamily="34" charset="0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Bahnschrift" panose="020B0502040204020203" pitchFamily="34" charset="0"/>
              </a:rPr>
              <a:t>Yassine </a:t>
            </a:r>
            <a:r>
              <a:rPr lang="en-US" sz="2000" dirty="0" err="1">
                <a:solidFill>
                  <a:schemeClr val="bg1">
                    <a:lumMod val="85000"/>
                  </a:schemeClr>
                </a:solidFill>
                <a:latin typeface="Bahnschrift" panose="020B0502040204020203" pitchFamily="34" charset="0"/>
              </a:rPr>
              <a:t>Kerbal</a:t>
            </a:r>
            <a:endParaRPr sz="2000" dirty="0">
              <a:solidFill>
                <a:schemeClr val="bg1">
                  <a:lumMod val="85000"/>
                </a:schemeClr>
              </a:solidFill>
              <a:latin typeface="Bahnschrift" panose="020B0502040204020203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995487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>
            <a:off x="571500" y="2347912"/>
            <a:ext cx="5550693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Le Défi du Big Data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571500" y="2862262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Le volume mondial de données suit une croissance exponentielle, créant un "bruit" numérique massif.</a:t>
            </a:r>
            <a:endParaRPr/>
          </a:p>
        </p:txBody>
      </p:sp>
      <p:pic>
        <p:nvPicPr>
          <p:cNvPr id="95" name="Google Shape;95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1995487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904875" y="3662362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Difficulté d'extraire des "Insights" pertinents.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904875" y="4157662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Risque de sur-information (Infobésité).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904875" y="4652962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Solution 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Nécessité absolue de la réduction de dimensionnalité pour révéler les structures latentes.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L'ère de la Data-Abondance</a:t>
            </a:r>
            <a:endParaRPr/>
          </a:p>
        </p:txBody>
      </p:sp>
      <p:sp>
        <p:nvSpPr>
          <p:cNvPr id="100" name="Google Shape;100;p14"/>
          <p:cNvSpPr/>
          <p:nvPr/>
        </p:nvSpPr>
        <p:spPr>
          <a:xfrm>
            <a:off x="571500" y="12096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1" name="Google Shape;101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70046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19576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691062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5"/>
          <p:cNvSpPr txBox="1"/>
          <p:nvPr/>
        </p:nvSpPr>
        <p:spPr>
          <a:xfrm>
            <a:off x="571500" y="857250"/>
            <a:ext cx="5200650" cy="14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 err="1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Contexte</a:t>
            </a:r>
            <a:r>
              <a:rPr lang="en-US" sz="3150" b="1" i="0" u="none" strike="noStrike" cap="none" dirty="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 1 :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150" b="1" i="0" u="none" strike="noStrike" cap="none" dirty="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3150" b="1" i="0" u="none" strike="noStrike" cap="none" dirty="0" err="1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Marchés</a:t>
            </a:r>
            <a:r>
              <a:rPr lang="en-US" sz="3150" b="1" i="0" u="none" strike="noStrike" cap="none" dirty="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 des Matières Premières</a:t>
            </a:r>
            <a:endParaRPr dirty="0"/>
          </a:p>
        </p:txBody>
      </p:sp>
      <p:sp>
        <p:nvSpPr>
          <p:cNvPr id="110" name="Google Shape;110;p15"/>
          <p:cNvSpPr txBox="1"/>
          <p:nvPr/>
        </p:nvSpPr>
        <p:spPr>
          <a:xfrm>
            <a:off x="571500" y="2914650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Actifs Analysés 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Pétrole (WTI, Brent), Gaz Naturel, Or, Métaux Industriels (Cuivre, Alu).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571500" y="3905250"/>
            <a:ext cx="4953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Enjeux Majeurs 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Volatilité extrême des cours, impacts géopolitiques directs et interdépendances complexes entre les actifs.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571500" y="5200650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Open Sans"/>
                <a:ea typeface="Open Sans"/>
                <a:cs typeface="Open Sans"/>
                <a:sym typeface="Open Sans"/>
              </a:rPr>
              <a:t>Objectif : Identifier les facteurs communs de fluctuation (Macro-économie vs Spéculation).</a:t>
            </a:r>
            <a:endParaRPr/>
          </a:p>
        </p:txBody>
      </p:sp>
      <p:pic>
        <p:nvPicPr>
          <p:cNvPr id="113" name="Google Shape;113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43650" y="337456"/>
            <a:ext cx="5704114" cy="61830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925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6"/>
          <p:cNvSpPr txBox="1"/>
          <p:nvPr/>
        </p:nvSpPr>
        <p:spPr>
          <a:xfrm>
            <a:off x="571500" y="1104900"/>
            <a:ext cx="520065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Contexte 2 :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1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 Écosystème Éducatif</a:t>
            </a:r>
            <a:endParaRPr/>
          </a:p>
        </p:txBody>
      </p:sp>
      <p:sp>
        <p:nvSpPr>
          <p:cNvPr id="120" name="Google Shape;120;p16"/>
          <p:cNvSpPr txBox="1"/>
          <p:nvPr/>
        </p:nvSpPr>
        <p:spPr>
          <a:xfrm>
            <a:off x="571500" y="2667000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Variables Clés 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Origine sociale, habitudes de travail, parcours académique antérieur, assiduité.</a:t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571500" y="3657600"/>
            <a:ext cx="4953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Enjeux Sociétaux 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Mesurer l'équité des chances et la capacité de l'institution à promouvoir la réussite pour tous.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571500" y="4953000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Open Sans"/>
                <a:ea typeface="Open Sans"/>
                <a:cs typeface="Open Sans"/>
                <a:sym typeface="Open Sans"/>
              </a:rPr>
              <a:t>Objectif : Modéliser les profils types de réussite et d'échec pour agir préventivement.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44F47BD-BF7D-A60F-C313-34FB865B2E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3377" y="1154621"/>
            <a:ext cx="5200650" cy="454875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7"/>
          <p:cNvSpPr txBox="1"/>
          <p:nvPr/>
        </p:nvSpPr>
        <p:spPr>
          <a:xfrm>
            <a:off x="857250" y="2833687"/>
            <a:ext cx="10763250" cy="12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1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 "Comment les méthodes factorielles peuvent-elles synthétiser des systèmes hétérogènes pour éclairer la décision stratégique ?" </a:t>
            </a:r>
            <a:endParaRPr/>
          </a:p>
        </p:txBody>
      </p:sp>
      <p:sp>
        <p:nvSpPr>
          <p:cNvPr id="130" name="Google Shape;130;p17"/>
          <p:cNvSpPr/>
          <p:nvPr/>
        </p:nvSpPr>
        <p:spPr>
          <a:xfrm>
            <a:off x="571500" y="2833687"/>
            <a:ext cx="47625" cy="12573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7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Problématique Centrale</a:t>
            </a:r>
            <a:endParaRPr/>
          </a:p>
        </p:txBody>
      </p:sp>
      <p:sp>
        <p:nvSpPr>
          <p:cNvPr id="133" name="Google Shape;133;p17"/>
          <p:cNvSpPr/>
          <p:nvPr/>
        </p:nvSpPr>
        <p:spPr>
          <a:xfrm>
            <a:off x="571500" y="12096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36668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92479" y="1785937"/>
            <a:ext cx="5017770" cy="4524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3" y="1785937"/>
            <a:ext cx="5017768" cy="4562475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8"/>
          <p:cNvSpPr txBox="1"/>
          <p:nvPr/>
        </p:nvSpPr>
        <p:spPr>
          <a:xfrm>
            <a:off x="952500" y="2828925"/>
            <a:ext cx="4750593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Philosophie des Données</a:t>
            </a:r>
            <a:endParaRPr lang="en-US" dirty="0"/>
          </a:p>
        </p:txBody>
      </p:sp>
      <p:sp>
        <p:nvSpPr>
          <p:cNvPr id="142" name="Google Shape;142;p18"/>
          <p:cNvSpPr txBox="1"/>
          <p:nvPr/>
        </p:nvSpPr>
        <p:spPr>
          <a:xfrm>
            <a:off x="952500" y="3486150"/>
            <a:ext cx="4524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"Le modèle doit suivre les données, pas l'inverse."</a:t>
            </a:r>
            <a:endParaRPr/>
          </a:p>
        </p:txBody>
      </p:sp>
      <p:sp>
        <p:nvSpPr>
          <p:cNvPr id="143" name="Google Shape;143;p18"/>
          <p:cNvSpPr txBox="1"/>
          <p:nvPr/>
        </p:nvSpPr>
        <p:spPr>
          <a:xfrm>
            <a:off x="952500" y="4171950"/>
            <a:ext cx="4524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Priorité à la représentation géométrique plutôt qu'à la modélisation probabiliste a priori.</a:t>
            </a:r>
            <a:endParaRPr/>
          </a:p>
        </p:txBody>
      </p:sp>
      <p:sp>
        <p:nvSpPr>
          <p:cNvPr id="144" name="Google Shape;144;p18"/>
          <p:cNvSpPr txBox="1"/>
          <p:nvPr/>
        </p:nvSpPr>
        <p:spPr>
          <a:xfrm>
            <a:off x="6762753" y="2724150"/>
            <a:ext cx="4750593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 err="1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Analyse</a:t>
            </a:r>
            <a:r>
              <a:rPr lang="en-US" sz="2100" b="1" i="0" u="none" strike="noStrike" cap="none" dirty="0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100" b="1" i="0" u="none" strike="noStrike" cap="none" dirty="0" err="1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Multidimensionnelle</a:t>
            </a:r>
            <a:endParaRPr dirty="0"/>
          </a:p>
        </p:txBody>
      </p:sp>
      <p:sp>
        <p:nvSpPr>
          <p:cNvPr id="145" name="Google Shape;145;p18"/>
          <p:cNvSpPr txBox="1"/>
          <p:nvPr/>
        </p:nvSpPr>
        <p:spPr>
          <a:xfrm>
            <a:off x="6762753" y="3381375"/>
            <a:ext cx="45243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Permet de révéler les structures cachées et les relations complexes entre variables sans imposer d'hypothèse forte au départ.</a:t>
            </a:r>
            <a:endParaRPr/>
          </a:p>
        </p:txBody>
      </p:sp>
      <p:sp>
        <p:nvSpPr>
          <p:cNvPr id="146" name="Google Shape;146;p18"/>
          <p:cNvSpPr txBox="1"/>
          <p:nvPr/>
        </p:nvSpPr>
        <p:spPr>
          <a:xfrm>
            <a:off x="6762753" y="4676775"/>
            <a:ext cx="4524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Visualisation de l'information dans des plans factoriels réduits.</a:t>
            </a:r>
            <a:endParaRPr/>
          </a:p>
        </p:txBody>
      </p:sp>
      <p:sp>
        <p:nvSpPr>
          <p:cNvPr id="147" name="Google Shape;147;p18"/>
          <p:cNvSpPr txBox="1"/>
          <p:nvPr/>
        </p:nvSpPr>
        <p:spPr>
          <a:xfrm>
            <a:off x="571500" y="571500"/>
            <a:ext cx="1160145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 err="1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L'Approche</a:t>
            </a:r>
            <a:r>
              <a:rPr lang="en-US" sz="3150" b="1" i="0" u="none" strike="noStrike" cap="none" dirty="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3150" b="1" i="0" u="none" strike="noStrike" cap="none" dirty="0" err="1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Factorielle</a:t>
            </a:r>
            <a:r>
              <a:rPr lang="en-US" sz="3150" b="1" i="0" u="none" strike="noStrike" cap="none" dirty="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dirty="0"/>
          </a:p>
        </p:txBody>
      </p:sp>
      <p:sp>
        <p:nvSpPr>
          <p:cNvPr id="148" name="Google Shape;148;p18"/>
          <p:cNvSpPr/>
          <p:nvPr/>
        </p:nvSpPr>
        <p:spPr>
          <a:xfrm>
            <a:off x="571500" y="12096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262187"/>
            <a:ext cx="3492549" cy="3276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262187"/>
            <a:ext cx="3492549" cy="3276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262187"/>
            <a:ext cx="3492549" cy="3276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9"/>
          <p:cNvSpPr txBox="1"/>
          <p:nvPr/>
        </p:nvSpPr>
        <p:spPr>
          <a:xfrm>
            <a:off x="784223" y="3309937"/>
            <a:ext cx="3067102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Langage R</a:t>
            </a:r>
            <a:endParaRPr/>
          </a:p>
        </p:txBody>
      </p:sp>
      <p:sp>
        <p:nvSpPr>
          <p:cNvPr id="158" name="Google Shape;158;p19"/>
          <p:cNvSpPr txBox="1"/>
          <p:nvPr/>
        </p:nvSpPr>
        <p:spPr>
          <a:xfrm>
            <a:off x="857250" y="3824287"/>
            <a:ext cx="292104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Le standard académique et industriel pour l'analyse statistique avancée.</a:t>
            </a:r>
            <a:endParaRPr/>
          </a:p>
        </p:txBody>
      </p:sp>
      <p:sp>
        <p:nvSpPr>
          <p:cNvPr id="159" name="Google Shape;159;p19"/>
          <p:cNvSpPr txBox="1"/>
          <p:nvPr/>
        </p:nvSpPr>
        <p:spPr>
          <a:xfrm>
            <a:off x="4562523" y="3309937"/>
            <a:ext cx="3067102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FactoMineR &amp; factoextra</a:t>
            </a:r>
            <a:endParaRPr/>
          </a:p>
        </p:txBody>
      </p:sp>
      <p:sp>
        <p:nvSpPr>
          <p:cNvPr id="160" name="Google Shape;160;p19"/>
          <p:cNvSpPr txBox="1"/>
          <p:nvPr/>
        </p:nvSpPr>
        <p:spPr>
          <a:xfrm>
            <a:off x="4635549" y="4148137"/>
            <a:ext cx="292104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Bibliothèques puissantes pour le calcul factoriel et la visualisation élégante.</a:t>
            </a:r>
            <a:endParaRPr/>
          </a:p>
        </p:txBody>
      </p:sp>
      <p:sp>
        <p:nvSpPr>
          <p:cNvPr id="161" name="Google Shape;161;p19"/>
          <p:cNvSpPr txBox="1"/>
          <p:nvPr/>
        </p:nvSpPr>
        <p:spPr>
          <a:xfrm>
            <a:off x="8340822" y="3309937"/>
            <a:ext cx="3067102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LaTeX</a:t>
            </a:r>
            <a:endParaRPr/>
          </a:p>
        </p:txBody>
      </p:sp>
      <p:sp>
        <p:nvSpPr>
          <p:cNvPr id="162" name="Google Shape;162;p19"/>
          <p:cNvSpPr txBox="1"/>
          <p:nvPr/>
        </p:nvSpPr>
        <p:spPr>
          <a:xfrm>
            <a:off x="8413849" y="3824287"/>
            <a:ext cx="292104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Garantie de la rigueur scientifique et de la qualité typographique du rapport.</a:t>
            </a:r>
            <a:endParaRPr/>
          </a:p>
        </p:txBody>
      </p:sp>
      <p:pic>
        <p:nvPicPr>
          <p:cNvPr id="163" name="Google Shape;163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103387" y="2671762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905500" y="2671762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9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683799" y="2671762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L'Écosystème Technique</a:t>
            </a:r>
            <a:endParaRPr/>
          </a:p>
        </p:txBody>
      </p:sp>
      <p:sp>
        <p:nvSpPr>
          <p:cNvPr id="167" name="Google Shape;167;p19"/>
          <p:cNvSpPr/>
          <p:nvPr/>
        </p:nvSpPr>
        <p:spPr>
          <a:xfrm>
            <a:off x="571500" y="12096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419475"/>
            <a:ext cx="156210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702718" y="3419475"/>
            <a:ext cx="196215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233987" y="3419475"/>
            <a:ext cx="1590675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393781" y="3419475"/>
            <a:ext cx="121920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182100" y="3419475"/>
            <a:ext cx="2438400" cy="13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/>
          <p:nvPr/>
        </p:nvSpPr>
        <p:spPr>
          <a:xfrm>
            <a:off x="571500" y="4090987"/>
            <a:ext cx="11049000" cy="381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20"/>
          <p:cNvSpPr/>
          <p:nvPr/>
        </p:nvSpPr>
        <p:spPr>
          <a:xfrm>
            <a:off x="1257300" y="341947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 cap="flat" cmpd="sng">
            <a:solidFill>
              <a:srgbClr val="38BD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20"/>
          <p:cNvSpPr txBox="1"/>
          <p:nvPr/>
        </p:nvSpPr>
        <p:spPr>
          <a:xfrm>
            <a:off x="632459" y="3752850"/>
            <a:ext cx="144018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1. Collecte</a:t>
            </a:r>
            <a:endParaRPr/>
          </a:p>
        </p:txBody>
      </p:sp>
      <p:sp>
        <p:nvSpPr>
          <p:cNvPr id="181" name="Google Shape;181;p20"/>
          <p:cNvSpPr txBox="1"/>
          <p:nvPr/>
        </p:nvSpPr>
        <p:spPr>
          <a:xfrm>
            <a:off x="666750" y="4267200"/>
            <a:ext cx="1371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Sources fiables</a:t>
            </a:r>
            <a:endParaRPr/>
          </a:p>
        </p:txBody>
      </p:sp>
      <p:sp>
        <p:nvSpPr>
          <p:cNvPr id="182" name="Google Shape;182;p20"/>
          <p:cNvSpPr/>
          <p:nvPr/>
        </p:nvSpPr>
        <p:spPr>
          <a:xfrm>
            <a:off x="3588543" y="341947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 cap="flat" cmpd="sng">
            <a:solidFill>
              <a:srgbClr val="38BD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0"/>
          <p:cNvSpPr txBox="1"/>
          <p:nvPr/>
        </p:nvSpPr>
        <p:spPr>
          <a:xfrm>
            <a:off x="2753677" y="3752850"/>
            <a:ext cx="1860232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2. Nettoyage</a:t>
            </a:r>
            <a:endParaRPr/>
          </a:p>
        </p:txBody>
      </p:sp>
      <p:sp>
        <p:nvSpPr>
          <p:cNvPr id="184" name="Google Shape;184;p20"/>
          <p:cNvSpPr txBox="1"/>
          <p:nvPr/>
        </p:nvSpPr>
        <p:spPr>
          <a:xfrm>
            <a:off x="2797968" y="4267200"/>
            <a:ext cx="17716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Tidying data</a:t>
            </a:r>
            <a:endParaRPr/>
          </a:p>
        </p:txBody>
      </p:sp>
      <p:sp>
        <p:nvSpPr>
          <p:cNvPr id="185" name="Google Shape;185;p20"/>
          <p:cNvSpPr/>
          <p:nvPr/>
        </p:nvSpPr>
        <p:spPr>
          <a:xfrm>
            <a:off x="5934075" y="341947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 cap="flat" cmpd="sng">
            <a:solidFill>
              <a:srgbClr val="38BD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0"/>
          <p:cNvSpPr txBox="1"/>
          <p:nvPr/>
        </p:nvSpPr>
        <p:spPr>
          <a:xfrm>
            <a:off x="5294233" y="3752850"/>
            <a:ext cx="1470183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3. Analyse</a:t>
            </a:r>
            <a:endParaRPr/>
          </a:p>
        </p:txBody>
      </p:sp>
      <p:sp>
        <p:nvSpPr>
          <p:cNvPr id="187" name="Google Shape;187;p20"/>
          <p:cNvSpPr txBox="1"/>
          <p:nvPr/>
        </p:nvSpPr>
        <p:spPr>
          <a:xfrm>
            <a:off x="5329237" y="4267200"/>
            <a:ext cx="14001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Factorisation</a:t>
            </a:r>
            <a:endParaRPr/>
          </a:p>
        </p:txBody>
      </p:sp>
      <p:sp>
        <p:nvSpPr>
          <p:cNvPr id="188" name="Google Shape;188;p20"/>
          <p:cNvSpPr/>
          <p:nvPr/>
        </p:nvSpPr>
        <p:spPr>
          <a:xfrm>
            <a:off x="7908131" y="341947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 cap="flat" cmpd="sng">
            <a:solidFill>
              <a:srgbClr val="38BD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0"/>
          <p:cNvSpPr txBox="1"/>
          <p:nvPr/>
        </p:nvSpPr>
        <p:spPr>
          <a:xfrm>
            <a:off x="7463313" y="3752850"/>
            <a:ext cx="108013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4. Viz</a:t>
            </a:r>
            <a:endParaRPr/>
          </a:p>
        </p:txBody>
      </p:sp>
      <p:sp>
        <p:nvSpPr>
          <p:cNvPr id="190" name="Google Shape;190;p20"/>
          <p:cNvSpPr txBox="1"/>
          <p:nvPr/>
        </p:nvSpPr>
        <p:spPr>
          <a:xfrm>
            <a:off x="7489031" y="4267200"/>
            <a:ext cx="10287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Graphiqus</a:t>
            </a:r>
            <a:endParaRPr dirty="0"/>
          </a:p>
        </p:txBody>
      </p:sp>
      <p:sp>
        <p:nvSpPr>
          <p:cNvPr id="191" name="Google Shape;191;p20"/>
          <p:cNvSpPr/>
          <p:nvPr/>
        </p:nvSpPr>
        <p:spPr>
          <a:xfrm>
            <a:off x="10306050" y="341947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 cap="flat" cmpd="sng">
            <a:solidFill>
              <a:srgbClr val="38BD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0"/>
          <p:cNvSpPr txBox="1"/>
          <p:nvPr/>
        </p:nvSpPr>
        <p:spPr>
          <a:xfrm>
            <a:off x="9221152" y="3752850"/>
            <a:ext cx="236029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5. Interprétation</a:t>
            </a:r>
            <a:endParaRPr/>
          </a:p>
        </p:txBody>
      </p:sp>
      <p:sp>
        <p:nvSpPr>
          <p:cNvPr id="193" name="Google Shape;193;p20"/>
          <p:cNvSpPr txBox="1"/>
          <p:nvPr/>
        </p:nvSpPr>
        <p:spPr>
          <a:xfrm>
            <a:off x="9277350" y="4267200"/>
            <a:ext cx="22479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Insights</a:t>
            </a:r>
            <a:endParaRPr/>
          </a:p>
        </p:txBody>
      </p:sp>
      <p:sp>
        <p:nvSpPr>
          <p:cNvPr id="194" name="Google Shape;194;p20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Workflow de la Data Science</a:t>
            </a:r>
            <a:endParaRPr/>
          </a:p>
        </p:txBody>
      </p:sp>
      <p:sp>
        <p:nvSpPr>
          <p:cNvPr id="195" name="Google Shape;195;p20"/>
          <p:cNvSpPr/>
          <p:nvPr/>
        </p:nvSpPr>
        <p:spPr>
          <a:xfrm>
            <a:off x="571500" y="12096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960474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A1CAAE-0636-A6A1-14E3-1067AB9CEA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DE5E7C66-762C-F756-C572-EC05D175F3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50190A47-F039-D47E-F237-805A4225F6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en-US"/>
          </a:p>
        </p:txBody>
      </p:sp>
      <p:pic>
        <p:nvPicPr>
          <p:cNvPr id="13" name="Google Shape;363;p29" descr="image.png">
            <a:extLst>
              <a:ext uri="{FF2B5EF4-FFF2-40B4-BE49-F238E27FC236}">
                <a16:creationId xmlns:a16="http://schemas.microsoft.com/office/drawing/2014/main" id="{C066C607-45D6-B762-9D82-7A85D288B0EC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364;p29">
            <a:extLst>
              <a:ext uri="{FF2B5EF4-FFF2-40B4-BE49-F238E27FC236}">
                <a16:creationId xmlns:a16="http://schemas.microsoft.com/office/drawing/2014/main" id="{C9580B52-B522-371A-9C15-B9D7A81D9923}"/>
              </a:ext>
            </a:extLst>
          </p:cNvPr>
          <p:cNvSpPr txBox="1"/>
          <p:nvPr/>
        </p:nvSpPr>
        <p:spPr>
          <a:xfrm>
            <a:off x="3810000" y="2037457"/>
            <a:ext cx="45720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D4AF37"/>
                </a:solidFill>
                <a:latin typeface="Open Sans"/>
                <a:ea typeface="Open Sans"/>
                <a:cs typeface="Open Sans"/>
                <a:sym typeface="Open Sans"/>
              </a:rPr>
              <a:t>ÉTUDE DE CAS 1</a:t>
            </a:r>
            <a:endParaRPr dirty="0"/>
          </a:p>
        </p:txBody>
      </p:sp>
      <p:sp>
        <p:nvSpPr>
          <p:cNvPr id="15" name="Google Shape;365;p29">
            <a:extLst>
              <a:ext uri="{FF2B5EF4-FFF2-40B4-BE49-F238E27FC236}">
                <a16:creationId xmlns:a16="http://schemas.microsoft.com/office/drawing/2014/main" id="{8F870DD9-6870-2F9D-2E19-93F5B739749E}"/>
              </a:ext>
            </a:extLst>
          </p:cNvPr>
          <p:cNvSpPr txBox="1"/>
          <p:nvPr/>
        </p:nvSpPr>
        <p:spPr>
          <a:xfrm>
            <a:off x="3695700" y="2631727"/>
            <a:ext cx="4800600" cy="923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</a:t>
            </a:r>
            <a:r>
              <a:rPr lang="en-US" sz="6000" b="1" i="0" u="none" strike="noStrike" cap="non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</a:t>
            </a:r>
            <a:r>
              <a:rPr lang="en-US" sz="60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</a:t>
            </a:r>
            <a:endParaRPr dirty="0"/>
          </a:p>
        </p:txBody>
      </p:sp>
      <p:sp>
        <p:nvSpPr>
          <p:cNvPr id="16" name="Google Shape;366;p29">
            <a:extLst>
              <a:ext uri="{FF2B5EF4-FFF2-40B4-BE49-F238E27FC236}">
                <a16:creationId xmlns:a16="http://schemas.microsoft.com/office/drawing/2014/main" id="{8BB2AE27-9F49-4C4E-EAD9-5FF19F558E9C}"/>
              </a:ext>
            </a:extLst>
          </p:cNvPr>
          <p:cNvSpPr/>
          <p:nvPr/>
        </p:nvSpPr>
        <p:spPr>
          <a:xfrm>
            <a:off x="5143500" y="3936652"/>
            <a:ext cx="1905000" cy="38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367;p29">
            <a:extLst>
              <a:ext uri="{FF2B5EF4-FFF2-40B4-BE49-F238E27FC236}">
                <a16:creationId xmlns:a16="http://schemas.microsoft.com/office/drawing/2014/main" id="{A1BA09A5-9453-6DA1-F6AE-DBA2497051B7}"/>
              </a:ext>
            </a:extLst>
          </p:cNvPr>
          <p:cNvSpPr txBox="1"/>
          <p:nvPr/>
        </p:nvSpPr>
        <p:spPr>
          <a:xfrm>
            <a:off x="3810000" y="4355752"/>
            <a:ext cx="4572000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59952"/>
              </a:lnSpc>
            </a:pPr>
            <a:r>
              <a:rPr lang="en-US" sz="2400" dirty="0">
                <a:solidFill>
                  <a:schemeClr val="bg1"/>
                </a:solidFill>
              </a:rPr>
              <a:t>des </a:t>
            </a:r>
            <a:r>
              <a:rPr lang="en-US" sz="2400" dirty="0" err="1">
                <a:solidFill>
                  <a:schemeClr val="bg1"/>
                </a:solidFill>
              </a:rPr>
              <a:t>Dynamiques</a:t>
            </a:r>
            <a:r>
              <a:rPr lang="en-US" sz="2400" dirty="0">
                <a:solidFill>
                  <a:schemeClr val="bg1"/>
                </a:solidFill>
              </a:rPr>
              <a:t> de Marché</a:t>
            </a:r>
            <a:endParaRPr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02595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Google Shape;200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23875" y="1178718"/>
            <a:ext cx="5286375" cy="5314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1243012"/>
            <a:ext cx="5286375" cy="531495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1"/>
          <p:cNvSpPr txBox="1"/>
          <p:nvPr/>
        </p:nvSpPr>
        <p:spPr>
          <a:xfrm>
            <a:off x="952500" y="1824037"/>
            <a:ext cx="4750593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Variables Quantitatives</a:t>
            </a:r>
            <a:endParaRPr/>
          </a:p>
        </p:txBody>
      </p:sp>
      <p:sp>
        <p:nvSpPr>
          <p:cNvPr id="204" name="Google Shape;204;p21"/>
          <p:cNvSpPr txBox="1"/>
          <p:nvPr/>
        </p:nvSpPr>
        <p:spPr>
          <a:xfrm>
            <a:off x="2190749" y="2921793"/>
            <a:ext cx="45243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 dirty="0">
                <a:solidFill>
                  <a:srgbClr val="10B981"/>
                </a:solidFill>
                <a:latin typeface="Open Sans"/>
                <a:ea typeface="Open Sans"/>
                <a:cs typeface="Open Sans"/>
                <a:sym typeface="Open Sans"/>
              </a:rPr>
              <a:t>ACP</a:t>
            </a:r>
            <a:endParaRPr dirty="0"/>
          </a:p>
        </p:txBody>
      </p:sp>
      <p:sp>
        <p:nvSpPr>
          <p:cNvPr id="205" name="Google Shape;205;p21"/>
          <p:cNvSpPr txBox="1"/>
          <p:nvPr/>
        </p:nvSpPr>
        <p:spPr>
          <a:xfrm>
            <a:off x="952499" y="4348162"/>
            <a:ext cx="4524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Analyse</a:t>
            </a:r>
            <a:r>
              <a:rPr lang="en-US" sz="1500" b="1" i="0" u="none" strike="noStrike" cap="none" dirty="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500" b="1" i="0" u="none" strike="noStrike" cap="none" dirty="0" err="1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en</a:t>
            </a:r>
            <a:r>
              <a:rPr lang="en-US" sz="1500" b="1" i="0" u="none" strike="noStrike" cap="none" dirty="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500" b="1" i="0" u="none" strike="noStrike" cap="none" dirty="0" err="1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Composantes</a:t>
            </a:r>
            <a:r>
              <a:rPr lang="en-US" sz="1500" b="1" i="0" u="none" strike="noStrike" cap="none" dirty="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500" b="1" i="0" u="none" strike="noStrike" cap="none" dirty="0" err="1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Principales</a:t>
            </a:r>
            <a:endParaRPr dirty="0"/>
          </a:p>
        </p:txBody>
      </p:sp>
      <p:sp>
        <p:nvSpPr>
          <p:cNvPr id="206" name="Google Shape;206;p21"/>
          <p:cNvSpPr txBox="1"/>
          <p:nvPr/>
        </p:nvSpPr>
        <p:spPr>
          <a:xfrm>
            <a:off x="800099" y="4881560"/>
            <a:ext cx="4524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Pour les données continues (Prix,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Température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, Volumes).</a:t>
            </a:r>
            <a:endParaRPr dirty="0"/>
          </a:p>
        </p:txBody>
      </p:sp>
      <p:sp>
        <p:nvSpPr>
          <p:cNvPr id="207" name="Google Shape;207;p21"/>
          <p:cNvSpPr txBox="1"/>
          <p:nvPr/>
        </p:nvSpPr>
        <p:spPr>
          <a:xfrm>
            <a:off x="6715125" y="1671637"/>
            <a:ext cx="4750593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Variables Qualitatives</a:t>
            </a:r>
            <a:endParaRPr/>
          </a:p>
        </p:txBody>
      </p:sp>
      <p:sp>
        <p:nvSpPr>
          <p:cNvPr id="208" name="Google Shape;208;p21"/>
          <p:cNvSpPr txBox="1"/>
          <p:nvPr/>
        </p:nvSpPr>
        <p:spPr>
          <a:xfrm>
            <a:off x="7858125" y="2936080"/>
            <a:ext cx="45243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 dirty="0">
                <a:solidFill>
                  <a:srgbClr val="F59E0B"/>
                </a:solidFill>
                <a:latin typeface="Open Sans"/>
                <a:ea typeface="Open Sans"/>
                <a:cs typeface="Open Sans"/>
                <a:sym typeface="Open Sans"/>
              </a:rPr>
              <a:t>AFCM</a:t>
            </a:r>
            <a:endParaRPr dirty="0"/>
          </a:p>
        </p:txBody>
      </p:sp>
      <p:sp>
        <p:nvSpPr>
          <p:cNvPr id="209" name="Google Shape;209;p21"/>
          <p:cNvSpPr txBox="1"/>
          <p:nvPr/>
        </p:nvSpPr>
        <p:spPr>
          <a:xfrm>
            <a:off x="6715124" y="4267199"/>
            <a:ext cx="4524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Analyse</a:t>
            </a:r>
            <a:r>
              <a:rPr lang="en-US" sz="1500" b="1" i="0" u="none" strike="noStrike" cap="none" dirty="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500" b="1" i="0" u="none" strike="noStrike" cap="none" dirty="0" err="1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Factorielle</a:t>
            </a:r>
            <a:r>
              <a:rPr lang="en-US" sz="1500" b="1" i="0" u="none" strike="noStrike" cap="none" dirty="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des </a:t>
            </a:r>
            <a:r>
              <a:rPr lang="en-US" sz="1500" b="1" i="0" u="none" strike="noStrike" cap="none" dirty="0" err="1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Correspondances</a:t>
            </a:r>
            <a:r>
              <a:rPr lang="en-US" sz="1500" b="1" i="0" u="none" strike="noStrike" cap="none" dirty="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Multiples</a:t>
            </a:r>
            <a:endParaRPr dirty="0"/>
          </a:p>
        </p:txBody>
      </p:sp>
      <p:sp>
        <p:nvSpPr>
          <p:cNvPr id="210" name="Google Shape;210;p21"/>
          <p:cNvSpPr txBox="1"/>
          <p:nvPr/>
        </p:nvSpPr>
        <p:spPr>
          <a:xfrm>
            <a:off x="6628040" y="5107780"/>
            <a:ext cx="4524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Pour les données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catégorielles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(Mention, CSP, Oui/Non).</a:t>
            </a:r>
            <a:endParaRPr dirty="0"/>
          </a:p>
        </p:txBody>
      </p:sp>
      <p:sp>
        <p:nvSpPr>
          <p:cNvPr id="211" name="Google Shape;211;p21"/>
          <p:cNvSpPr txBox="1"/>
          <p:nvPr/>
        </p:nvSpPr>
        <p:spPr>
          <a:xfrm>
            <a:off x="571500" y="300037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Choix de la Méthode : Le Critère de Nature</a:t>
            </a:r>
            <a:endParaRPr/>
          </a:p>
        </p:txBody>
      </p:sp>
      <p:sp>
        <p:nvSpPr>
          <p:cNvPr id="212" name="Google Shape;212;p21"/>
          <p:cNvSpPr/>
          <p:nvPr/>
        </p:nvSpPr>
        <p:spPr>
          <a:xfrm>
            <a:off x="571500" y="938212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" name="Google Shape;217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290762"/>
            <a:ext cx="5286375" cy="321945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2"/>
          <p:cNvSpPr txBox="1"/>
          <p:nvPr/>
        </p:nvSpPr>
        <p:spPr>
          <a:xfrm>
            <a:off x="571500" y="2576512"/>
            <a:ext cx="5550693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Objectif </a:t>
            </a:r>
            <a:r>
              <a:rPr lang="en-US" sz="2100" b="1" i="0" u="none" strike="noStrike" cap="none" dirty="0" err="1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Mathématique</a:t>
            </a:r>
            <a:endParaRPr dirty="0"/>
          </a:p>
        </p:txBody>
      </p:sp>
      <p:sp>
        <p:nvSpPr>
          <p:cNvPr id="220" name="Google Shape;220;p22"/>
          <p:cNvSpPr txBox="1"/>
          <p:nvPr/>
        </p:nvSpPr>
        <p:spPr>
          <a:xfrm>
            <a:off x="571501" y="3195637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Rechercher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les directions de variance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maximale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(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inertie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) dans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l'espace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des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individus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dirty="0"/>
          </a:p>
        </p:txBody>
      </p:sp>
      <p:sp>
        <p:nvSpPr>
          <p:cNvPr id="221" name="Google Shape;221;p22"/>
          <p:cNvSpPr txBox="1"/>
          <p:nvPr/>
        </p:nvSpPr>
        <p:spPr>
          <a:xfrm>
            <a:off x="571501" y="3995737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Transformer des variables corrélées en nouvelles variables décorrélées (Composantes Principales).</a:t>
            </a:r>
            <a:endParaRPr/>
          </a:p>
        </p:txBody>
      </p:sp>
      <p:sp>
        <p:nvSpPr>
          <p:cNvPr id="222" name="Google Shape;222;p22"/>
          <p:cNvSpPr txBox="1"/>
          <p:nvPr/>
        </p:nvSpPr>
        <p:spPr>
          <a:xfrm>
            <a:off x="6619875" y="2576512"/>
            <a:ext cx="4950618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Diagonalisation</a:t>
            </a:r>
            <a:endParaRPr/>
          </a:p>
        </p:txBody>
      </p:sp>
      <p:sp>
        <p:nvSpPr>
          <p:cNvPr id="223" name="Google Shape;223;p22"/>
          <p:cNvSpPr txBox="1"/>
          <p:nvPr/>
        </p:nvSpPr>
        <p:spPr>
          <a:xfrm>
            <a:off x="6619875" y="3090862"/>
            <a:ext cx="47148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Soit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la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matrice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de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corrélation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dirty="0"/>
          </a:p>
        </p:txBody>
      </p:sp>
      <p:sp>
        <p:nvSpPr>
          <p:cNvPr id="224" name="Google Shape;224;p22"/>
          <p:cNvSpPr txBox="1"/>
          <p:nvPr/>
        </p:nvSpPr>
        <p:spPr>
          <a:xfrm>
            <a:off x="6619875" y="3586162"/>
            <a:ext cx="47148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On résout l'équation :</a:t>
            </a:r>
            <a:endParaRPr/>
          </a:p>
        </p:txBody>
      </p:sp>
      <p:sp>
        <p:nvSpPr>
          <p:cNvPr id="225" name="Google Shape;225;p22"/>
          <p:cNvSpPr txBox="1"/>
          <p:nvPr/>
        </p:nvSpPr>
        <p:spPr>
          <a:xfrm>
            <a:off x="6619875" y="4298156"/>
            <a:ext cx="47148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Où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sont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les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valeurs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propres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(variance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expliquée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) et les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vecteurs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propres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(axes).</a:t>
            </a:r>
            <a:endParaRPr dirty="0"/>
          </a:p>
        </p:txBody>
      </p:sp>
      <p:pic>
        <p:nvPicPr>
          <p:cNvPr id="227" name="Google Shape;227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429377" y="4095749"/>
            <a:ext cx="4714875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2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Fondements Mathématiques de l'ACP</a:t>
            </a:r>
            <a:endParaRPr/>
          </a:p>
        </p:txBody>
      </p:sp>
      <p:sp>
        <p:nvSpPr>
          <p:cNvPr id="231" name="Google Shape;231;p22"/>
          <p:cNvSpPr/>
          <p:nvPr/>
        </p:nvSpPr>
        <p:spPr>
          <a:xfrm>
            <a:off x="571500" y="12096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Google Shape;236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514475"/>
            <a:ext cx="5286375" cy="4772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1514475"/>
            <a:ext cx="5286375" cy="4772025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3"/>
          <p:cNvSpPr txBox="1"/>
          <p:nvPr/>
        </p:nvSpPr>
        <p:spPr>
          <a:xfrm>
            <a:off x="952500" y="3201888"/>
            <a:ext cx="4750593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La Formule</a:t>
            </a:r>
            <a:endParaRPr/>
          </a:p>
        </p:txBody>
      </p:sp>
      <p:sp>
        <p:nvSpPr>
          <p:cNvPr id="240" name="Google Shape;240;p23"/>
          <p:cNvSpPr txBox="1"/>
          <p:nvPr/>
        </p:nvSpPr>
        <p:spPr>
          <a:xfrm>
            <a:off x="6715125" y="2314575"/>
            <a:ext cx="4750593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Pourquoi standardiser ?</a:t>
            </a:r>
            <a:endParaRPr/>
          </a:p>
        </p:txBody>
      </p:sp>
      <p:pic>
        <p:nvPicPr>
          <p:cNvPr id="241" name="Google Shape;241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52500" y="3954363"/>
            <a:ext cx="4524375" cy="358973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23"/>
          <p:cNvSpPr txBox="1"/>
          <p:nvPr/>
        </p:nvSpPr>
        <p:spPr>
          <a:xfrm>
            <a:off x="7048500" y="2933700"/>
            <a:ext cx="4191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Éviter que les variables à forte unité (ex: PIB en milliards) n'écrasent celles à faible unité (ex: Taux en %).</a:t>
            </a:r>
            <a:endParaRPr/>
          </a:p>
        </p:txBody>
      </p:sp>
      <p:sp>
        <p:nvSpPr>
          <p:cNvPr id="243" name="Google Shape;243;p23"/>
          <p:cNvSpPr txBox="1"/>
          <p:nvPr/>
        </p:nvSpPr>
        <p:spPr>
          <a:xfrm>
            <a:off x="7048500" y="4038600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Résultat 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Moyenne = 0, Écart-type = 1.</a:t>
            </a:r>
            <a:endParaRPr/>
          </a:p>
        </p:txBody>
      </p:sp>
      <p:sp>
        <p:nvSpPr>
          <p:cNvPr id="244" name="Google Shape;244;p23"/>
          <p:cNvSpPr txBox="1"/>
          <p:nvPr/>
        </p:nvSpPr>
        <p:spPr>
          <a:xfrm>
            <a:off x="7048500" y="4533900"/>
            <a:ext cx="4191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Permet une comparabilité parfaite entre Dollars, Barils et Indices.</a:t>
            </a:r>
            <a:endParaRPr/>
          </a:p>
        </p:txBody>
      </p:sp>
      <p:sp>
        <p:nvSpPr>
          <p:cNvPr id="245" name="Google Shape;245;p23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Centrage et Réduction (Standardisation)</a:t>
            </a:r>
            <a:endParaRPr/>
          </a:p>
        </p:txBody>
      </p:sp>
      <p:sp>
        <p:nvSpPr>
          <p:cNvPr id="246" name="Google Shape;246;p23"/>
          <p:cNvSpPr/>
          <p:nvPr/>
        </p:nvSpPr>
        <p:spPr>
          <a:xfrm>
            <a:off x="571500" y="12096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7" name="Google Shape;247;p2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715125" y="297180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2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715125" y="407670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2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715125" y="4572000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" name="Google Shape;254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24"/>
          <p:cNvPicPr preferRelativeResize="0"/>
          <p:nvPr/>
        </p:nvPicPr>
        <p:blipFill>
          <a:blip r:embed="rId4">
            <a:alphaModFix/>
          </a:blip>
          <a:srcRect/>
          <a:stretch/>
        </p:blipFill>
        <p:spPr>
          <a:xfrm>
            <a:off x="432291" y="1599064"/>
            <a:ext cx="5093607" cy="4653268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24"/>
          <p:cNvSpPr txBox="1"/>
          <p:nvPr/>
        </p:nvSpPr>
        <p:spPr>
          <a:xfrm>
            <a:off x="6334125" y="2453823"/>
            <a:ext cx="5550693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Sélection des Axes</a:t>
            </a:r>
            <a:endParaRPr/>
          </a:p>
        </p:txBody>
      </p:sp>
      <p:sp>
        <p:nvSpPr>
          <p:cNvPr id="257" name="Google Shape;257;p24"/>
          <p:cNvSpPr txBox="1"/>
          <p:nvPr/>
        </p:nvSpPr>
        <p:spPr>
          <a:xfrm>
            <a:off x="6667500" y="2938462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Critère de Kaiser 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On retient les axes avec .</a:t>
            </a:r>
            <a:endParaRPr/>
          </a:p>
        </p:txBody>
      </p:sp>
      <p:sp>
        <p:nvSpPr>
          <p:cNvPr id="258" name="Google Shape;258;p24"/>
          <p:cNvSpPr txBox="1"/>
          <p:nvPr/>
        </p:nvSpPr>
        <p:spPr>
          <a:xfrm>
            <a:off x="6667500" y="3433762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Analyse 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Les 2 premiers axes expliquent 68% de l'inertie totale.</a:t>
            </a:r>
            <a:endParaRPr/>
          </a:p>
        </p:txBody>
      </p:sp>
      <p:sp>
        <p:nvSpPr>
          <p:cNvPr id="259" name="Google Shape;259;p24"/>
          <p:cNvSpPr txBox="1"/>
          <p:nvPr/>
        </p:nvSpPr>
        <p:spPr>
          <a:xfrm>
            <a:off x="6667500" y="4233862"/>
            <a:ext cx="4953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Cela constitue un résumé suffisant pour comprendre la structure principale du marché sans trop de perte d'information.</a:t>
            </a:r>
            <a:endParaRPr/>
          </a:p>
        </p:txBody>
      </p:sp>
      <p:pic>
        <p:nvPicPr>
          <p:cNvPr id="260" name="Google Shape;260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515600" y="3005137"/>
            <a:ext cx="481012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4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Éboulis des Valeurs Propres (Scree Plot)</a:t>
            </a:r>
            <a:endParaRPr/>
          </a:p>
        </p:txBody>
      </p:sp>
      <p:sp>
        <p:nvSpPr>
          <p:cNvPr id="262" name="Google Shape;262;p24"/>
          <p:cNvSpPr/>
          <p:nvPr/>
        </p:nvSpPr>
        <p:spPr>
          <a:xfrm>
            <a:off x="571500" y="12096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3" name="Google Shape;263;p2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34125" y="297656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2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34125" y="347186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2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34125" y="4271962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0" name="Google Shape;270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995487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25"/>
          <p:cNvSpPr txBox="1"/>
          <p:nvPr/>
        </p:nvSpPr>
        <p:spPr>
          <a:xfrm>
            <a:off x="571500" y="2366962"/>
            <a:ext cx="5550693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Lecture Géométrique</a:t>
            </a:r>
            <a:endParaRPr/>
          </a:p>
        </p:txBody>
      </p:sp>
      <p:pic>
        <p:nvPicPr>
          <p:cNvPr id="273" name="Google Shape;273;p25"/>
          <p:cNvPicPr preferRelativeResize="0"/>
          <p:nvPr/>
        </p:nvPicPr>
        <p:blipFill>
          <a:blip r:embed="rId5">
            <a:alphaModFix/>
          </a:blip>
          <a:srcRect/>
          <a:stretch/>
        </p:blipFill>
        <p:spPr>
          <a:xfrm>
            <a:off x="6334125" y="2265295"/>
            <a:ext cx="5286375" cy="3270384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5"/>
          <p:cNvSpPr txBox="1"/>
          <p:nvPr/>
        </p:nvSpPr>
        <p:spPr>
          <a:xfrm>
            <a:off x="904875" y="2843212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Proximité (Angle aigu) 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Forte corrélation positive. Les variables varient dans le même sens.</a:t>
            </a:r>
            <a:endParaRPr/>
          </a:p>
        </p:txBody>
      </p:sp>
      <p:sp>
        <p:nvSpPr>
          <p:cNvPr id="275" name="Google Shape;275;p25"/>
          <p:cNvSpPr txBox="1"/>
          <p:nvPr/>
        </p:nvSpPr>
        <p:spPr>
          <a:xfrm>
            <a:off x="904875" y="3643312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Opposition (180°) 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Corrélation négative.</a:t>
            </a:r>
            <a:endParaRPr/>
          </a:p>
        </p:txBody>
      </p:sp>
      <p:sp>
        <p:nvSpPr>
          <p:cNvPr id="276" name="Google Shape;276;p25"/>
          <p:cNvSpPr txBox="1"/>
          <p:nvPr/>
        </p:nvSpPr>
        <p:spPr>
          <a:xfrm>
            <a:off x="904875" y="4138612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Orthogonalité (90°) 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Indépendance linéaire.</a:t>
            </a:r>
            <a:endParaRPr/>
          </a:p>
        </p:txBody>
      </p:sp>
      <p:sp>
        <p:nvSpPr>
          <p:cNvPr id="277" name="Google Shape;277;p25"/>
          <p:cNvSpPr txBox="1"/>
          <p:nvPr/>
        </p:nvSpPr>
        <p:spPr>
          <a:xfrm>
            <a:off x="904875" y="4633912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Qualité (Cos²) 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Plus la flèche est proche du bord du cercle, mieux la variable est représentée.</a:t>
            </a:r>
            <a:endParaRPr/>
          </a:p>
        </p:txBody>
      </p:sp>
      <p:sp>
        <p:nvSpPr>
          <p:cNvPr id="278" name="Google Shape;278;p25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Le Cercle des Corrélations (Variables)</a:t>
            </a:r>
            <a:endParaRPr/>
          </a:p>
        </p:txBody>
      </p:sp>
      <p:sp>
        <p:nvSpPr>
          <p:cNvPr id="279" name="Google Shape;279;p25"/>
          <p:cNvSpPr/>
          <p:nvPr/>
        </p:nvSpPr>
        <p:spPr>
          <a:xfrm>
            <a:off x="571500" y="12096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0" name="Google Shape;280;p2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288131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2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68141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2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17671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2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672012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8" name="Google Shape;288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424112"/>
            <a:ext cx="3492549" cy="2952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2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424112"/>
            <a:ext cx="3492549" cy="2952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2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424112"/>
            <a:ext cx="3492549" cy="2952750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26"/>
          <p:cNvSpPr txBox="1"/>
          <p:nvPr/>
        </p:nvSpPr>
        <p:spPr>
          <a:xfrm>
            <a:off x="784223" y="3471862"/>
            <a:ext cx="3067102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Contributions</a:t>
            </a:r>
            <a:endParaRPr/>
          </a:p>
        </p:txBody>
      </p:sp>
      <p:sp>
        <p:nvSpPr>
          <p:cNvPr id="293" name="Google Shape;293;p26"/>
          <p:cNvSpPr txBox="1"/>
          <p:nvPr/>
        </p:nvSpPr>
        <p:spPr>
          <a:xfrm>
            <a:off x="857250" y="3986212"/>
            <a:ext cx="2921049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Pétrole (WTI), Cuivre, Aluminium, Indices boursiers.</a:t>
            </a:r>
            <a:endParaRPr/>
          </a:p>
        </p:txBody>
      </p:sp>
      <p:sp>
        <p:nvSpPr>
          <p:cNvPr id="294" name="Google Shape;294;p26"/>
          <p:cNvSpPr txBox="1"/>
          <p:nvPr/>
        </p:nvSpPr>
        <p:spPr>
          <a:xfrm>
            <a:off x="4562523" y="3471862"/>
            <a:ext cx="3067102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Signification</a:t>
            </a:r>
            <a:endParaRPr/>
          </a:p>
        </p:txBody>
      </p:sp>
      <p:sp>
        <p:nvSpPr>
          <p:cNvPr id="295" name="Google Shape;295;p26"/>
          <p:cNvSpPr txBox="1"/>
          <p:nvPr/>
        </p:nvSpPr>
        <p:spPr>
          <a:xfrm>
            <a:off x="4635549" y="3986212"/>
            <a:ext cx="292104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Cet axe reflète la demande industrielle globale et la santé de l'économie mondiale.</a:t>
            </a:r>
            <a:endParaRPr/>
          </a:p>
        </p:txBody>
      </p:sp>
      <p:sp>
        <p:nvSpPr>
          <p:cNvPr id="296" name="Google Shape;296;p26"/>
          <p:cNvSpPr txBox="1"/>
          <p:nvPr/>
        </p:nvSpPr>
        <p:spPr>
          <a:xfrm>
            <a:off x="8340822" y="3471862"/>
            <a:ext cx="3067102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Tendance</a:t>
            </a:r>
            <a:endParaRPr/>
          </a:p>
        </p:txBody>
      </p:sp>
      <p:sp>
        <p:nvSpPr>
          <p:cNvPr id="297" name="Google Shape;297;p26"/>
          <p:cNvSpPr txBox="1"/>
          <p:nvPr/>
        </p:nvSpPr>
        <p:spPr>
          <a:xfrm>
            <a:off x="8413849" y="3986212"/>
            <a:ext cx="2921049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Cycle économique classique : Croissance vs Récession.</a:t>
            </a:r>
            <a:endParaRPr/>
          </a:p>
        </p:txBody>
      </p:sp>
      <p:pic>
        <p:nvPicPr>
          <p:cNvPr id="298" name="Google Shape;298;p2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127200" y="2833687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2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905500" y="2833687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2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659987" y="2833687"/>
            <a:ext cx="4286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26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Axe 1 : La Conjoncture Mondiale</a:t>
            </a:r>
            <a:endParaRPr/>
          </a:p>
        </p:txBody>
      </p:sp>
      <p:sp>
        <p:nvSpPr>
          <p:cNvPr id="302" name="Google Shape;302;p26"/>
          <p:cNvSpPr/>
          <p:nvPr/>
        </p:nvSpPr>
        <p:spPr>
          <a:xfrm>
            <a:off x="571500" y="12096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" name="Google Shape;307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424112"/>
            <a:ext cx="3492549" cy="2952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2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424112"/>
            <a:ext cx="3492549" cy="2952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2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424112"/>
            <a:ext cx="3492549" cy="2952750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27"/>
          <p:cNvSpPr txBox="1"/>
          <p:nvPr/>
        </p:nvSpPr>
        <p:spPr>
          <a:xfrm>
            <a:off x="784223" y="3471862"/>
            <a:ext cx="3067102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Opposition</a:t>
            </a:r>
            <a:endParaRPr/>
          </a:p>
        </p:txBody>
      </p:sp>
      <p:sp>
        <p:nvSpPr>
          <p:cNvPr id="312" name="Google Shape;312;p27"/>
          <p:cNvSpPr txBox="1"/>
          <p:nvPr/>
        </p:nvSpPr>
        <p:spPr>
          <a:xfrm>
            <a:off x="857250" y="3986212"/>
            <a:ext cx="2921049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L'Or (Gold) s'oppose aux actifs énergétiques et industriels.</a:t>
            </a:r>
            <a:endParaRPr/>
          </a:p>
        </p:txBody>
      </p:sp>
      <p:sp>
        <p:nvSpPr>
          <p:cNvPr id="313" name="Google Shape;313;p27"/>
          <p:cNvSpPr txBox="1"/>
          <p:nvPr/>
        </p:nvSpPr>
        <p:spPr>
          <a:xfrm>
            <a:off x="4562523" y="3471862"/>
            <a:ext cx="3067102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Signification</a:t>
            </a:r>
            <a:endParaRPr/>
          </a:p>
        </p:txBody>
      </p:sp>
      <p:sp>
        <p:nvSpPr>
          <p:cNvPr id="314" name="Google Shape;314;p27"/>
          <p:cNvSpPr txBox="1"/>
          <p:nvPr/>
        </p:nvSpPr>
        <p:spPr>
          <a:xfrm>
            <a:off x="4635549" y="3986212"/>
            <a:ext cx="292104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Axe de "Valeur Refuge". Le marché bascule vers l'or en période d'incertitude.</a:t>
            </a:r>
            <a:endParaRPr/>
          </a:p>
        </p:txBody>
      </p:sp>
      <p:sp>
        <p:nvSpPr>
          <p:cNvPr id="315" name="Google Shape;315;p27"/>
          <p:cNvSpPr txBox="1"/>
          <p:nvPr/>
        </p:nvSpPr>
        <p:spPr>
          <a:xfrm>
            <a:off x="8340822" y="3471862"/>
            <a:ext cx="3067102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Comportement</a:t>
            </a:r>
            <a:endParaRPr/>
          </a:p>
        </p:txBody>
      </p:sp>
      <p:sp>
        <p:nvSpPr>
          <p:cNvPr id="316" name="Google Shape;316;p27"/>
          <p:cNvSpPr txBox="1"/>
          <p:nvPr/>
        </p:nvSpPr>
        <p:spPr>
          <a:xfrm>
            <a:off x="8413849" y="3986212"/>
            <a:ext cx="2921049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Mesure l'aversion au risque des investisseurs.</a:t>
            </a:r>
            <a:endParaRPr/>
          </a:p>
        </p:txBody>
      </p:sp>
      <p:pic>
        <p:nvPicPr>
          <p:cNvPr id="317" name="Google Shape;317;p2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079575" y="2833687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p2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905500" y="2833687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Google Shape;319;p2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683799" y="283368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27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Axe 2 : Risque vs Sécurité</a:t>
            </a:r>
            <a:endParaRPr/>
          </a:p>
        </p:txBody>
      </p:sp>
      <p:sp>
        <p:nvSpPr>
          <p:cNvPr id="321" name="Google Shape;321;p27"/>
          <p:cNvSpPr/>
          <p:nvPr/>
        </p:nvSpPr>
        <p:spPr>
          <a:xfrm>
            <a:off x="571500" y="12096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6" name="Google Shape;326;p2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2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995487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28"/>
          <p:cNvSpPr txBox="1"/>
          <p:nvPr/>
        </p:nvSpPr>
        <p:spPr>
          <a:xfrm>
            <a:off x="571500" y="2195512"/>
            <a:ext cx="5550693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Trajectoires Historiques</a:t>
            </a:r>
            <a:endParaRPr/>
          </a:p>
        </p:txBody>
      </p:sp>
      <p:sp>
        <p:nvSpPr>
          <p:cNvPr id="329" name="Google Shape;329;p28"/>
          <p:cNvSpPr txBox="1"/>
          <p:nvPr/>
        </p:nvSpPr>
        <p:spPr>
          <a:xfrm>
            <a:off x="571500" y="2709862"/>
            <a:ext cx="5286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Chaque point représente une année d'observation.</a:t>
            </a:r>
            <a:endParaRPr/>
          </a:p>
        </p:txBody>
      </p:sp>
      <p:pic>
        <p:nvPicPr>
          <p:cNvPr id="330" name="Google Shape;330;p28"/>
          <p:cNvPicPr preferRelativeResize="0"/>
          <p:nvPr/>
        </p:nvPicPr>
        <p:blipFill>
          <a:blip r:embed="rId5">
            <a:alphaModFix/>
          </a:blip>
          <a:srcRect/>
          <a:stretch/>
        </p:blipFill>
        <p:spPr>
          <a:xfrm>
            <a:off x="6334125" y="2314574"/>
            <a:ext cx="5286375" cy="3171825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28"/>
          <p:cNvSpPr txBox="1"/>
          <p:nvPr/>
        </p:nvSpPr>
        <p:spPr>
          <a:xfrm>
            <a:off x="904875" y="3205162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Regroupements 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Les années de crise (2008, 2020) se distinguent nettement.</a:t>
            </a:r>
            <a:endParaRPr/>
          </a:p>
        </p:txBody>
      </p:sp>
      <p:sp>
        <p:nvSpPr>
          <p:cNvPr id="332" name="Google Shape;332;p28"/>
          <p:cNvSpPr txBox="1"/>
          <p:nvPr/>
        </p:nvSpPr>
        <p:spPr>
          <a:xfrm>
            <a:off x="904875" y="4005262"/>
            <a:ext cx="4953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Cycles 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On observe des cycles d'expansion (années 2010-2018) qui suivent des trajectoires spécifiques sur le plan factoriel.</a:t>
            </a:r>
            <a:endParaRPr/>
          </a:p>
        </p:txBody>
      </p:sp>
      <p:sp>
        <p:nvSpPr>
          <p:cNvPr id="333" name="Google Shape;333;p28"/>
          <p:cNvSpPr txBox="1"/>
          <p:nvPr/>
        </p:nvSpPr>
        <p:spPr>
          <a:xfrm>
            <a:off x="904875" y="5110162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Permet de dater les ruptures structurelles du marché.</a:t>
            </a:r>
            <a:endParaRPr/>
          </a:p>
        </p:txBody>
      </p:sp>
      <p:sp>
        <p:nvSpPr>
          <p:cNvPr id="334" name="Google Shape;334;p28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Carte des Individus (Dynamique Temporelle)</a:t>
            </a:r>
            <a:endParaRPr/>
          </a:p>
        </p:txBody>
      </p:sp>
      <p:sp>
        <p:nvSpPr>
          <p:cNvPr id="335" name="Google Shape;335;p28"/>
          <p:cNvSpPr/>
          <p:nvPr/>
        </p:nvSpPr>
        <p:spPr>
          <a:xfrm>
            <a:off x="571500" y="12096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6" name="Google Shape;336;p2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24326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Google Shape;337;p2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04336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" name="Google Shape;338;p2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5148262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1803CFA5-947B-E24C-0330-624C8B9091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519E64AE-4713-96B7-EC1F-3AAF86EEA1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en-US"/>
          </a:p>
        </p:txBody>
      </p:sp>
      <p:pic>
        <p:nvPicPr>
          <p:cNvPr id="13" name="Google Shape;363;p29" descr="image.png">
            <a:extLst>
              <a:ext uri="{FF2B5EF4-FFF2-40B4-BE49-F238E27FC236}">
                <a16:creationId xmlns:a16="http://schemas.microsoft.com/office/drawing/2014/main" id="{05B532BE-3C99-9920-63F7-F063B44F0557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364;p29">
            <a:extLst>
              <a:ext uri="{FF2B5EF4-FFF2-40B4-BE49-F238E27FC236}">
                <a16:creationId xmlns:a16="http://schemas.microsoft.com/office/drawing/2014/main" id="{A116F1A5-7CCF-F764-95EA-716CB6CF5A0A}"/>
              </a:ext>
            </a:extLst>
          </p:cNvPr>
          <p:cNvSpPr txBox="1"/>
          <p:nvPr/>
        </p:nvSpPr>
        <p:spPr>
          <a:xfrm>
            <a:off x="3810000" y="2037457"/>
            <a:ext cx="45720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D4AF37"/>
                </a:solidFill>
                <a:latin typeface="Open Sans"/>
                <a:ea typeface="Open Sans"/>
                <a:cs typeface="Open Sans"/>
                <a:sym typeface="Open Sans"/>
              </a:rPr>
              <a:t>ÉTUDE DE CAS 2</a:t>
            </a:r>
            <a:endParaRPr/>
          </a:p>
        </p:txBody>
      </p:sp>
      <p:sp>
        <p:nvSpPr>
          <p:cNvPr id="15" name="Google Shape;365;p29">
            <a:extLst>
              <a:ext uri="{FF2B5EF4-FFF2-40B4-BE49-F238E27FC236}">
                <a16:creationId xmlns:a16="http://schemas.microsoft.com/office/drawing/2014/main" id="{8413C591-ACE1-4315-E63F-2B6B80E93F82}"/>
              </a:ext>
            </a:extLst>
          </p:cNvPr>
          <p:cNvSpPr txBox="1"/>
          <p:nvPr/>
        </p:nvSpPr>
        <p:spPr>
          <a:xfrm>
            <a:off x="3695700" y="2631727"/>
            <a:ext cx="4800600" cy="923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L'AFCM</a:t>
            </a:r>
            <a:endParaRPr/>
          </a:p>
        </p:txBody>
      </p:sp>
      <p:sp>
        <p:nvSpPr>
          <p:cNvPr id="16" name="Google Shape;366;p29">
            <a:extLst>
              <a:ext uri="{FF2B5EF4-FFF2-40B4-BE49-F238E27FC236}">
                <a16:creationId xmlns:a16="http://schemas.microsoft.com/office/drawing/2014/main" id="{7A60B8EB-D16B-0439-5DCB-F745AD89A7FE}"/>
              </a:ext>
            </a:extLst>
          </p:cNvPr>
          <p:cNvSpPr/>
          <p:nvPr/>
        </p:nvSpPr>
        <p:spPr>
          <a:xfrm>
            <a:off x="5143500" y="3936652"/>
            <a:ext cx="1905000" cy="38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367;p29">
            <a:extLst>
              <a:ext uri="{FF2B5EF4-FFF2-40B4-BE49-F238E27FC236}">
                <a16:creationId xmlns:a16="http://schemas.microsoft.com/office/drawing/2014/main" id="{395B8FB8-271F-5EA9-DFE0-311E17FE1231}"/>
              </a:ext>
            </a:extLst>
          </p:cNvPr>
          <p:cNvSpPr txBox="1"/>
          <p:nvPr/>
        </p:nvSpPr>
        <p:spPr>
          <a:xfrm>
            <a:off x="3810000" y="4355752"/>
            <a:ext cx="4572000" cy="42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 err="1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Analyse</a:t>
            </a:r>
            <a:r>
              <a:rPr lang="en-US" sz="2100" b="0" i="0" u="none" strike="noStrike" cap="none" dirty="0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 de la Performance </a:t>
            </a:r>
            <a:r>
              <a:rPr lang="en-US" sz="2100" b="0" i="0" u="none" strike="noStrike" cap="none" dirty="0" err="1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Étudiante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810388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3" name="Google Shape;343;p2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4" name="Google Shape;344;p2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514475"/>
            <a:ext cx="5286375" cy="4772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p2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1514475"/>
            <a:ext cx="5286375" cy="4772025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29"/>
          <p:cNvSpPr txBox="1"/>
          <p:nvPr/>
        </p:nvSpPr>
        <p:spPr>
          <a:xfrm>
            <a:off x="952500" y="2524125"/>
            <a:ext cx="4750593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Extension de l'AFC</a:t>
            </a:r>
            <a:endParaRPr/>
          </a:p>
        </p:txBody>
      </p:sp>
      <p:sp>
        <p:nvSpPr>
          <p:cNvPr id="347" name="Google Shape;347;p29"/>
          <p:cNvSpPr txBox="1"/>
          <p:nvPr/>
        </p:nvSpPr>
        <p:spPr>
          <a:xfrm>
            <a:off x="952500" y="3181350"/>
            <a:ext cx="45243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L'AFCM étend l'Analyse Factorielle des Correspondances à des tableaux disjonctifs multiples (plus de 2 variables qualitatives).</a:t>
            </a:r>
            <a:endParaRPr/>
          </a:p>
        </p:txBody>
      </p:sp>
      <p:sp>
        <p:nvSpPr>
          <p:cNvPr id="348" name="Google Shape;348;p29"/>
          <p:cNvSpPr txBox="1"/>
          <p:nvPr/>
        </p:nvSpPr>
        <p:spPr>
          <a:xfrm>
            <a:off x="952500" y="4476750"/>
            <a:ext cx="4524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Idéal pour les enquêtes et données socio-démographiques.</a:t>
            </a:r>
            <a:endParaRPr/>
          </a:p>
        </p:txBody>
      </p:sp>
      <p:sp>
        <p:nvSpPr>
          <p:cNvPr id="349" name="Google Shape;349;p29"/>
          <p:cNvSpPr txBox="1"/>
          <p:nvPr/>
        </p:nvSpPr>
        <p:spPr>
          <a:xfrm>
            <a:off x="6715125" y="2524125"/>
            <a:ext cx="4750593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Métrique du Chi-2</a:t>
            </a:r>
            <a:endParaRPr/>
          </a:p>
        </p:txBody>
      </p:sp>
      <p:sp>
        <p:nvSpPr>
          <p:cNvPr id="350" name="Google Shape;350;p29"/>
          <p:cNvSpPr txBox="1"/>
          <p:nvPr/>
        </p:nvSpPr>
        <p:spPr>
          <a:xfrm>
            <a:off x="6715125" y="3181350"/>
            <a:ext cx="4524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Contrairement à la distance euclidienne, le Chi-2 pondère par l'inverse des fréquences marginales.</a:t>
            </a:r>
            <a:endParaRPr/>
          </a:p>
        </p:txBody>
      </p:sp>
      <p:sp>
        <p:nvSpPr>
          <p:cNvPr id="351" name="Google Shape;351;p29"/>
          <p:cNvSpPr txBox="1"/>
          <p:nvPr/>
        </p:nvSpPr>
        <p:spPr>
          <a:xfrm>
            <a:off x="6715125" y="4171950"/>
            <a:ext cx="45243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Avantage 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Donne plus de poids aux modalités rares, souvent porteuses d'information spécifique et discriminante.</a:t>
            </a:r>
            <a:endParaRPr/>
          </a:p>
        </p:txBody>
      </p:sp>
      <p:sp>
        <p:nvSpPr>
          <p:cNvPr id="352" name="Google Shape;352;p29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Théorie de l'AFCM et Distance du Chi-2</a:t>
            </a:r>
            <a:endParaRPr/>
          </a:p>
        </p:txBody>
      </p:sp>
      <p:sp>
        <p:nvSpPr>
          <p:cNvPr id="353" name="Google Shape;353;p29"/>
          <p:cNvSpPr/>
          <p:nvPr/>
        </p:nvSpPr>
        <p:spPr>
          <a:xfrm>
            <a:off x="571500" y="12096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3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0"/>
          <p:cNvSpPr txBox="1"/>
          <p:nvPr/>
        </p:nvSpPr>
        <p:spPr>
          <a:xfrm>
            <a:off x="571499" y="1615058"/>
            <a:ext cx="11049000" cy="689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lvl="0" indent="-28575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fr-FR" dirty="0">
                <a:latin typeface="Bahnschrift" panose="020B0502040204020203" pitchFamily="34" charset="0"/>
              </a:rPr>
              <a:t>Aperçu du TDC : variables qualitatives transformées en 0/1 </a:t>
            </a:r>
            <a:br>
              <a:rPr lang="fr-FR" dirty="0">
                <a:latin typeface="Bahnschrift" panose="020B0502040204020203" pitchFamily="34" charset="0"/>
              </a:rPr>
            </a:br>
            <a:r>
              <a:rPr lang="fr-FR" dirty="0">
                <a:latin typeface="Bahnschrift" panose="020B0502040204020203" pitchFamily="34" charset="0"/>
              </a:rPr>
              <a:t>Seules quelques lignes et colonnes sont affichées pour plus de clarté</a:t>
            </a:r>
          </a:p>
        </p:txBody>
      </p:sp>
      <p:sp>
        <p:nvSpPr>
          <p:cNvPr id="360" name="Google Shape;360;p30"/>
          <p:cNvSpPr/>
          <p:nvPr/>
        </p:nvSpPr>
        <p:spPr>
          <a:xfrm>
            <a:off x="571500" y="2847975"/>
            <a:ext cx="11049000" cy="298132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30"/>
          <p:cNvSpPr/>
          <p:nvPr/>
        </p:nvSpPr>
        <p:spPr>
          <a:xfrm>
            <a:off x="571500" y="4024312"/>
            <a:ext cx="320590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30"/>
          <p:cNvSpPr/>
          <p:nvPr/>
        </p:nvSpPr>
        <p:spPr>
          <a:xfrm>
            <a:off x="3777406" y="4024312"/>
            <a:ext cx="296257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30"/>
          <p:cNvSpPr/>
          <p:nvPr/>
        </p:nvSpPr>
        <p:spPr>
          <a:xfrm>
            <a:off x="6739979" y="4024312"/>
            <a:ext cx="236145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30"/>
          <p:cNvSpPr/>
          <p:nvPr/>
        </p:nvSpPr>
        <p:spPr>
          <a:xfrm>
            <a:off x="9101435" y="4024312"/>
            <a:ext cx="251906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30"/>
          <p:cNvSpPr/>
          <p:nvPr/>
        </p:nvSpPr>
        <p:spPr>
          <a:xfrm>
            <a:off x="571500" y="4624387"/>
            <a:ext cx="320590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30"/>
          <p:cNvSpPr/>
          <p:nvPr/>
        </p:nvSpPr>
        <p:spPr>
          <a:xfrm>
            <a:off x="3777406" y="4624387"/>
            <a:ext cx="296257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30"/>
          <p:cNvSpPr/>
          <p:nvPr/>
        </p:nvSpPr>
        <p:spPr>
          <a:xfrm>
            <a:off x="6739979" y="4624387"/>
            <a:ext cx="236145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30"/>
          <p:cNvSpPr/>
          <p:nvPr/>
        </p:nvSpPr>
        <p:spPr>
          <a:xfrm>
            <a:off x="9101435" y="4624387"/>
            <a:ext cx="251906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30"/>
          <p:cNvSpPr/>
          <p:nvPr/>
        </p:nvSpPr>
        <p:spPr>
          <a:xfrm>
            <a:off x="571500" y="5224462"/>
            <a:ext cx="320590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30"/>
          <p:cNvSpPr/>
          <p:nvPr/>
        </p:nvSpPr>
        <p:spPr>
          <a:xfrm>
            <a:off x="3777406" y="5224462"/>
            <a:ext cx="296257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30"/>
          <p:cNvSpPr/>
          <p:nvPr/>
        </p:nvSpPr>
        <p:spPr>
          <a:xfrm>
            <a:off x="6739979" y="5224462"/>
            <a:ext cx="236145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30"/>
          <p:cNvSpPr/>
          <p:nvPr/>
        </p:nvSpPr>
        <p:spPr>
          <a:xfrm>
            <a:off x="9101435" y="5224462"/>
            <a:ext cx="251906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30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Codage : Le Tableau Disjonctif Complet (TDC)</a:t>
            </a:r>
            <a:endParaRPr/>
          </a:p>
        </p:txBody>
      </p:sp>
      <p:sp>
        <p:nvSpPr>
          <p:cNvPr id="375" name="Google Shape;375;p30"/>
          <p:cNvSpPr/>
          <p:nvPr/>
        </p:nvSpPr>
        <p:spPr>
          <a:xfrm>
            <a:off x="571500" y="12096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BB91CF1-CE77-EDB6-0D5E-7CD880B63E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86" y="2847974"/>
            <a:ext cx="12167028" cy="298132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0" name="Google Shape;380;p3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31"/>
          <p:cNvSpPr txBox="1"/>
          <p:nvPr/>
        </p:nvSpPr>
        <p:spPr>
          <a:xfrm>
            <a:off x="571500" y="3090862"/>
            <a:ext cx="5550693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Le Problème</a:t>
            </a:r>
            <a:endParaRPr/>
          </a:p>
        </p:txBody>
      </p:sp>
      <p:sp>
        <p:nvSpPr>
          <p:cNvPr id="382" name="Google Shape;382;p31"/>
          <p:cNvSpPr txBox="1"/>
          <p:nvPr/>
        </p:nvSpPr>
        <p:spPr>
          <a:xfrm>
            <a:off x="571500" y="3605212"/>
            <a:ext cx="52863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En AFCM, l'inertie totale est artificiellement gonflée par la dimension du tableau disjonctif. Les pourcentages d'inertie brute sont souvent très faibles et pessimistes.</a:t>
            </a:r>
            <a:endParaRPr/>
          </a:p>
        </p:txBody>
      </p:sp>
      <p:sp>
        <p:nvSpPr>
          <p:cNvPr id="383" name="Google Shape;383;p31"/>
          <p:cNvSpPr txBox="1"/>
          <p:nvPr/>
        </p:nvSpPr>
        <p:spPr>
          <a:xfrm>
            <a:off x="6334125" y="2614612"/>
            <a:ext cx="5550693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La Solution</a:t>
            </a:r>
            <a:endParaRPr/>
          </a:p>
        </p:txBody>
      </p:sp>
      <p:sp>
        <p:nvSpPr>
          <p:cNvPr id="384" name="Google Shape;384;p31"/>
          <p:cNvSpPr txBox="1"/>
          <p:nvPr/>
        </p:nvSpPr>
        <p:spPr>
          <a:xfrm>
            <a:off x="6667500" y="3090862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Utilisation de la formule de Benzécri.</a:t>
            </a:r>
            <a:endParaRPr/>
          </a:p>
        </p:txBody>
      </p:sp>
      <p:sp>
        <p:nvSpPr>
          <p:cNvPr id="385" name="Google Shape;385;p31"/>
          <p:cNvSpPr txBox="1"/>
          <p:nvPr/>
        </p:nvSpPr>
        <p:spPr>
          <a:xfrm>
            <a:off x="6667500" y="3586162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Recalcule les valeurs propres en ne gardant que celles supérieures à (p = nombre de variables).</a:t>
            </a:r>
            <a:endParaRPr/>
          </a:p>
        </p:txBody>
      </p:sp>
      <p:sp>
        <p:nvSpPr>
          <p:cNvPr id="386" name="Google Shape;386;p31"/>
          <p:cNvSpPr txBox="1"/>
          <p:nvPr/>
        </p:nvSpPr>
        <p:spPr>
          <a:xfrm>
            <a:off x="6667500" y="4386262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Donne des pourcentages d'inertie "modifiés" beaucoup plus réalistes et interprétables.</a:t>
            </a:r>
            <a:endParaRPr/>
          </a:p>
        </p:txBody>
      </p:sp>
      <p:sp>
        <p:nvSpPr>
          <p:cNvPr id="388" name="Google Shape;388;p31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Ajustement de l'Inertie (Benzécri)</a:t>
            </a:r>
            <a:endParaRPr/>
          </a:p>
        </p:txBody>
      </p:sp>
      <p:sp>
        <p:nvSpPr>
          <p:cNvPr id="389" name="Google Shape;389;p31"/>
          <p:cNvSpPr/>
          <p:nvPr/>
        </p:nvSpPr>
        <p:spPr>
          <a:xfrm>
            <a:off x="571500" y="12096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0" name="Google Shape;390;p3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312896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1" name="Google Shape;391;p3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362426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2" name="Google Shape;392;p3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4424362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7" name="Google Shape;397;p3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8" name="Google Shape;398;p3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995487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99" name="Google Shape;399;p32"/>
          <p:cNvSpPr txBox="1"/>
          <p:nvPr/>
        </p:nvSpPr>
        <p:spPr>
          <a:xfrm>
            <a:off x="571500" y="2443162"/>
            <a:ext cx="5550693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Lecture des Associations</a:t>
            </a:r>
            <a:endParaRPr/>
          </a:p>
        </p:txBody>
      </p:sp>
      <p:sp>
        <p:nvSpPr>
          <p:cNvPr id="400" name="Google Shape;400;p32"/>
          <p:cNvSpPr txBox="1"/>
          <p:nvPr/>
        </p:nvSpPr>
        <p:spPr>
          <a:xfrm>
            <a:off x="571500" y="2957512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Les modalités proches sur la carte sont souvent choisies par les mêmes individus.</a:t>
            </a:r>
            <a:endParaRPr/>
          </a:p>
        </p:txBody>
      </p:sp>
      <p:sp>
        <p:nvSpPr>
          <p:cNvPr id="402" name="Google Shape;402;p32"/>
          <p:cNvSpPr txBox="1"/>
          <p:nvPr/>
        </p:nvSpPr>
        <p:spPr>
          <a:xfrm>
            <a:off x="904875" y="3757612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Effet</a:t>
            </a:r>
            <a:r>
              <a:rPr lang="en-US" sz="1500" b="1" i="0" u="none" strike="noStrike" cap="none" dirty="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Guttman :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Forme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en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fer à cheval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typique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indiquant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un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facteur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latente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fort (ex: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niveau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scolaire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global).</a:t>
            </a:r>
            <a:endParaRPr dirty="0"/>
          </a:p>
        </p:txBody>
      </p:sp>
      <p:sp>
        <p:nvSpPr>
          <p:cNvPr id="403" name="Google Shape;403;p32"/>
          <p:cNvSpPr txBox="1"/>
          <p:nvPr/>
        </p:nvSpPr>
        <p:spPr>
          <a:xfrm>
            <a:off x="870346" y="5012530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Cluster :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Proximité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observée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entre "Milieu social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favorisé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" et "Ambition études longues".</a:t>
            </a:r>
            <a:endParaRPr dirty="0"/>
          </a:p>
        </p:txBody>
      </p:sp>
      <p:sp>
        <p:nvSpPr>
          <p:cNvPr id="404" name="Google Shape;404;p32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Carte des Modalités (Profils Académiques)</a:t>
            </a:r>
            <a:endParaRPr/>
          </a:p>
        </p:txBody>
      </p:sp>
      <p:sp>
        <p:nvSpPr>
          <p:cNvPr id="405" name="Google Shape;405;p32"/>
          <p:cNvSpPr/>
          <p:nvPr/>
        </p:nvSpPr>
        <p:spPr>
          <a:xfrm>
            <a:off x="571500" y="12096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6" name="Google Shape;406;p3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79571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p3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63880" y="5126831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oogle Shape;401;p32"/>
          <p:cNvPicPr preferRelativeResize="0"/>
          <p:nvPr/>
        </p:nvPicPr>
        <p:blipFill>
          <a:blip r:embed="rId6">
            <a:alphaModFix/>
          </a:blip>
          <a:srcRect/>
          <a:stretch/>
        </p:blipFill>
        <p:spPr>
          <a:xfrm>
            <a:off x="6334124" y="2155371"/>
            <a:ext cx="5286375" cy="37759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6" name="Google Shape;426;p37" descr="imag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Google Shape;427;p37"/>
          <p:cNvSpPr txBox="1"/>
          <p:nvPr/>
        </p:nvSpPr>
        <p:spPr>
          <a:xfrm>
            <a:off x="762000" y="571500"/>
            <a:ext cx="5000625" cy="971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3A8A"/>
                </a:solidFill>
                <a:latin typeface="Urbanist"/>
                <a:ea typeface="Urbanist"/>
                <a:cs typeface="Urbanist"/>
                <a:sym typeface="Urbanist"/>
              </a:rPr>
              <a:t>Segmentation : Nuage des Individus</a:t>
            </a:r>
            <a:endParaRPr/>
          </a:p>
        </p:txBody>
      </p:sp>
      <p:sp>
        <p:nvSpPr>
          <p:cNvPr id="428" name="Google Shape;428;p37"/>
          <p:cNvSpPr/>
          <p:nvPr/>
        </p:nvSpPr>
        <p:spPr>
          <a:xfrm>
            <a:off x="571500" y="571500"/>
            <a:ext cx="76200" cy="97155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29" name="Google Shape;429;p37"/>
          <p:cNvPicPr preferRelativeResize="0"/>
          <p:nvPr/>
        </p:nvPicPr>
        <p:blipFill>
          <a:blip r:embed="rId3">
            <a:alphaModFix/>
          </a:blip>
          <a:srcRect/>
          <a:stretch/>
        </p:blipFill>
        <p:spPr>
          <a:xfrm>
            <a:off x="5695950" y="1580876"/>
            <a:ext cx="6315075" cy="419154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sp>
        <p:nvSpPr>
          <p:cNvPr id="430" name="Google Shape;430;p37"/>
          <p:cNvSpPr txBox="1"/>
          <p:nvPr/>
        </p:nvSpPr>
        <p:spPr>
          <a:xfrm>
            <a:off x="571500" y="4872037"/>
            <a:ext cx="49530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 err="1">
                <a:solidFill>
                  <a:srgbClr val="1E3A8A"/>
                </a:solidFill>
                <a:latin typeface="DM Sans"/>
                <a:ea typeface="DM Sans"/>
                <a:cs typeface="DM Sans"/>
                <a:sym typeface="DM Sans"/>
              </a:rPr>
              <a:t>Visualisation</a:t>
            </a:r>
            <a:r>
              <a:rPr lang="en-US" sz="1650" b="1" i="0" u="none" strike="noStrike" cap="none" dirty="0">
                <a:solidFill>
                  <a:srgbClr val="1E3A8A"/>
                </a:solidFill>
                <a:latin typeface="DM Sans"/>
                <a:ea typeface="DM Sans"/>
                <a:cs typeface="DM Sans"/>
                <a:sym typeface="DM Sans"/>
              </a:rPr>
              <a:t> des </a:t>
            </a:r>
            <a:r>
              <a:rPr lang="en-US" sz="1650" b="1" i="0" u="none" strike="noStrike" cap="none" dirty="0" err="1">
                <a:solidFill>
                  <a:srgbClr val="1E3A8A"/>
                </a:solidFill>
                <a:latin typeface="DM Sans"/>
                <a:ea typeface="DM Sans"/>
                <a:cs typeface="DM Sans"/>
                <a:sym typeface="DM Sans"/>
              </a:rPr>
              <a:t>profils</a:t>
            </a:r>
            <a:r>
              <a:rPr lang="en-US" sz="1650" b="1" i="0" u="none" strike="noStrike" cap="none" dirty="0">
                <a:solidFill>
                  <a:srgbClr val="1E3A8A"/>
                </a:solidFill>
                <a:latin typeface="DM Sans"/>
                <a:ea typeface="DM Sans"/>
                <a:cs typeface="DM Sans"/>
                <a:sym typeface="DM Sans"/>
              </a:rPr>
              <a:t> types par projection </a:t>
            </a:r>
            <a:r>
              <a:rPr lang="en-US" sz="1650" b="1" i="0" u="none" strike="noStrike" cap="none" dirty="0" err="1">
                <a:solidFill>
                  <a:srgbClr val="1E3A8A"/>
                </a:solidFill>
                <a:latin typeface="DM Sans"/>
                <a:ea typeface="DM Sans"/>
                <a:cs typeface="DM Sans"/>
                <a:sym typeface="DM Sans"/>
              </a:rPr>
              <a:t>factorielle</a:t>
            </a:r>
            <a:r>
              <a:rPr lang="en-US" sz="1650" b="1" i="0" u="none" strike="noStrike" cap="none" dirty="0">
                <a:solidFill>
                  <a:srgbClr val="1E3A8A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dirty="0"/>
          </a:p>
        </p:txBody>
      </p:sp>
      <p:sp>
        <p:nvSpPr>
          <p:cNvPr id="431" name="Google Shape;431;p37"/>
          <p:cNvSpPr txBox="1"/>
          <p:nvPr/>
        </p:nvSpPr>
        <p:spPr>
          <a:xfrm>
            <a:off x="952500" y="2700337"/>
            <a:ext cx="45720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Pôle Excellence :</a:t>
            </a:r>
            <a:r>
              <a:rPr lang="en-US" sz="165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Groupe homogène en haut à droite.</a:t>
            </a:r>
            <a:endParaRPr/>
          </a:p>
        </p:txBody>
      </p:sp>
      <p:sp>
        <p:nvSpPr>
          <p:cNvPr id="432" name="Google Shape;432;p37"/>
          <p:cNvSpPr txBox="1"/>
          <p:nvPr/>
        </p:nvSpPr>
        <p:spPr>
          <a:xfrm>
            <a:off x="952500" y="3519487"/>
            <a:ext cx="4572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Pôle Médian :</a:t>
            </a:r>
            <a:r>
              <a:rPr lang="en-US" sz="165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Forte densité centrale.</a:t>
            </a:r>
            <a:endParaRPr/>
          </a:p>
        </p:txBody>
      </p:sp>
      <p:sp>
        <p:nvSpPr>
          <p:cNvPr id="433" name="Google Shape;433;p37"/>
          <p:cNvSpPr txBox="1"/>
          <p:nvPr/>
        </p:nvSpPr>
        <p:spPr>
          <a:xfrm>
            <a:off x="952500" y="4024312"/>
            <a:ext cx="4572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Pôle Fragile :</a:t>
            </a:r>
            <a:r>
              <a:rPr lang="en-US" sz="165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Dispersion plus forte à gauche.</a:t>
            </a:r>
            <a:endParaRPr/>
          </a:p>
        </p:txBody>
      </p:sp>
      <p:pic>
        <p:nvPicPr>
          <p:cNvPr id="434" name="Google Shape;434;p3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700337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5" name="Google Shape;435;p3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519487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6" name="Google Shape;436;p3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024312"/>
            <a:ext cx="209550" cy="2190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459892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2" name="Google Shape;412;p3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13" name="Google Shape;413;p33"/>
          <p:cNvSpPr txBox="1"/>
          <p:nvPr/>
        </p:nvSpPr>
        <p:spPr>
          <a:xfrm>
            <a:off x="571500" y="2447925"/>
            <a:ext cx="1160145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 err="1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Corrélations</a:t>
            </a:r>
            <a:r>
              <a:rPr lang="en-US" sz="2100" b="1" i="0" u="none" strike="noStrike" cap="none" dirty="0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 Fortes avec "Mention Bien/TB"</a:t>
            </a:r>
            <a:endParaRPr dirty="0"/>
          </a:p>
        </p:txBody>
      </p:sp>
      <p:sp>
        <p:nvSpPr>
          <p:cNvPr id="414" name="Google Shape;414;p33"/>
          <p:cNvSpPr txBox="1"/>
          <p:nvPr/>
        </p:nvSpPr>
        <p:spPr>
          <a:xfrm>
            <a:off x="904875" y="3143250"/>
            <a:ext cx="107156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Capital Culturel 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Parents ayant fait des études supérieures longues.</a:t>
            </a:r>
            <a:endParaRPr/>
          </a:p>
        </p:txBody>
      </p:sp>
      <p:sp>
        <p:nvSpPr>
          <p:cNvPr id="415" name="Google Shape;415;p33"/>
          <p:cNvSpPr txBox="1"/>
          <p:nvPr/>
        </p:nvSpPr>
        <p:spPr>
          <a:xfrm>
            <a:off x="904875" y="3638550"/>
            <a:ext cx="107156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Méthodologie 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Travail régulier déclaré et prise de notes structurée.</a:t>
            </a:r>
            <a:endParaRPr/>
          </a:p>
        </p:txBody>
      </p:sp>
      <p:sp>
        <p:nvSpPr>
          <p:cNvPr id="416" name="Google Shape;416;p33"/>
          <p:cNvSpPr txBox="1"/>
          <p:nvPr/>
        </p:nvSpPr>
        <p:spPr>
          <a:xfrm>
            <a:off x="904875" y="4133850"/>
            <a:ext cx="107156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Contexte 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Absence de job étudiant prenant (&gt;15h/semaine) permettant de se concentrer sur les études.</a:t>
            </a:r>
            <a:endParaRPr/>
          </a:p>
        </p:txBody>
      </p:sp>
      <p:sp>
        <p:nvSpPr>
          <p:cNvPr id="417" name="Google Shape;417;p33"/>
          <p:cNvSpPr txBox="1"/>
          <p:nvPr/>
        </p:nvSpPr>
        <p:spPr>
          <a:xfrm>
            <a:off x="904875" y="4629150"/>
            <a:ext cx="107156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Assiduité 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Taux de présence aux TD supérieur à 95%.</a:t>
            </a:r>
            <a:endParaRPr/>
          </a:p>
        </p:txBody>
      </p:sp>
      <p:sp>
        <p:nvSpPr>
          <p:cNvPr id="418" name="Google Shape;418;p33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Zoom sur les Facteurs de Réussite</a:t>
            </a:r>
            <a:endParaRPr/>
          </a:p>
        </p:txBody>
      </p:sp>
      <p:sp>
        <p:nvSpPr>
          <p:cNvPr id="419" name="Google Shape;419;p33"/>
          <p:cNvSpPr/>
          <p:nvPr/>
        </p:nvSpPr>
        <p:spPr>
          <a:xfrm>
            <a:off x="571500" y="12096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20" name="Google Shape;420;p3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18135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1" name="Google Shape;421;p3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67665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2" name="Google Shape;422;p3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17195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3" name="Google Shape;423;p3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667250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8" name="Google Shape;428;p3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9" name="Google Shape;429;p3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424112"/>
            <a:ext cx="3492549" cy="2952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0" name="Google Shape;430;p3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424112"/>
            <a:ext cx="3492549" cy="2952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1" name="Google Shape;431;p3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424112"/>
            <a:ext cx="3492549" cy="2952750"/>
          </a:xfrm>
          <a:prstGeom prst="rect">
            <a:avLst/>
          </a:prstGeom>
          <a:noFill/>
          <a:ln>
            <a:noFill/>
          </a:ln>
        </p:spPr>
      </p:pic>
      <p:sp>
        <p:nvSpPr>
          <p:cNvPr id="432" name="Google Shape;432;p34"/>
          <p:cNvSpPr txBox="1"/>
          <p:nvPr/>
        </p:nvSpPr>
        <p:spPr>
          <a:xfrm>
            <a:off x="784223" y="3471862"/>
            <a:ext cx="3067102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Groupe 1 : Élite</a:t>
            </a:r>
            <a:endParaRPr/>
          </a:p>
        </p:txBody>
      </p:sp>
      <p:sp>
        <p:nvSpPr>
          <p:cNvPr id="433" name="Google Shape;433;p34"/>
          <p:cNvSpPr txBox="1"/>
          <p:nvPr/>
        </p:nvSpPr>
        <p:spPr>
          <a:xfrm>
            <a:off x="857250" y="3986212"/>
            <a:ext cx="292104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Profils stables, performants, issus de milieux favorisés. Trajectoire linéaire.</a:t>
            </a:r>
            <a:endParaRPr/>
          </a:p>
        </p:txBody>
      </p:sp>
      <p:sp>
        <p:nvSpPr>
          <p:cNvPr id="434" name="Google Shape;434;p34"/>
          <p:cNvSpPr txBox="1"/>
          <p:nvPr/>
        </p:nvSpPr>
        <p:spPr>
          <a:xfrm>
            <a:off x="4562523" y="3471862"/>
            <a:ext cx="3067102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Groupe 2 : Moyens</a:t>
            </a:r>
            <a:endParaRPr/>
          </a:p>
        </p:txBody>
      </p:sp>
      <p:sp>
        <p:nvSpPr>
          <p:cNvPr id="435" name="Google Shape;435;p34"/>
          <p:cNvSpPr txBox="1"/>
          <p:nvPr/>
        </p:nvSpPr>
        <p:spPr>
          <a:xfrm>
            <a:off x="4635549" y="3986212"/>
            <a:ext cx="292104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En transition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ou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hésitants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.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Potentiel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de progression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si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accompagnés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dirty="0"/>
          </a:p>
        </p:txBody>
      </p:sp>
      <p:sp>
        <p:nvSpPr>
          <p:cNvPr id="436" name="Google Shape;436;p34"/>
          <p:cNvSpPr txBox="1"/>
          <p:nvPr/>
        </p:nvSpPr>
        <p:spPr>
          <a:xfrm>
            <a:off x="8340822" y="3471862"/>
            <a:ext cx="3067102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Groupe 3 : À Risque</a:t>
            </a:r>
            <a:endParaRPr/>
          </a:p>
        </p:txBody>
      </p:sp>
      <p:sp>
        <p:nvSpPr>
          <p:cNvPr id="437" name="Google Shape;437;p34"/>
          <p:cNvSpPr txBox="1"/>
          <p:nvPr/>
        </p:nvSpPr>
        <p:spPr>
          <a:xfrm>
            <a:off x="8413849" y="3986212"/>
            <a:ext cx="292104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Absentéisme, difficultés sociales, job étudiant prenant. Besoin de soutien urgent.</a:t>
            </a:r>
            <a:endParaRPr/>
          </a:p>
        </p:txBody>
      </p:sp>
      <p:pic>
        <p:nvPicPr>
          <p:cNvPr id="438" name="Google Shape;438;p3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079575" y="2833687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9" name="Google Shape;439;p3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57875" y="2833687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0" name="Google Shape;440;p3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683799" y="283368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441" name="Google Shape;441;p34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 err="1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Typologie</a:t>
            </a:r>
            <a:r>
              <a:rPr lang="en-US" sz="3150" b="1" i="0" u="none" strike="noStrike" cap="none" dirty="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 des </a:t>
            </a:r>
            <a:r>
              <a:rPr lang="en-US" sz="3150" b="1" i="0" u="none" strike="noStrike" cap="none" dirty="0" err="1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Individus</a:t>
            </a:r>
            <a:r>
              <a:rPr lang="en-US" sz="3150" b="1" i="0" u="none" strike="noStrike" cap="none" dirty="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 (Segmentation)</a:t>
            </a:r>
            <a:endParaRPr dirty="0"/>
          </a:p>
        </p:txBody>
      </p:sp>
      <p:sp>
        <p:nvSpPr>
          <p:cNvPr id="442" name="Google Shape;442;p34"/>
          <p:cNvSpPr/>
          <p:nvPr/>
        </p:nvSpPr>
        <p:spPr>
          <a:xfrm>
            <a:off x="571500" y="12096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7" name="Google Shape;447;p3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48" name="Google Shape;448;p35"/>
          <p:cNvSpPr txBox="1"/>
          <p:nvPr/>
        </p:nvSpPr>
        <p:spPr>
          <a:xfrm>
            <a:off x="571500" y="2157412"/>
            <a:ext cx="5550693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Robustesse Statistique</a:t>
            </a:r>
            <a:endParaRPr/>
          </a:p>
        </p:txBody>
      </p:sp>
      <p:pic>
        <p:nvPicPr>
          <p:cNvPr id="449" name="Google Shape;449;p3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643937" y="3081337"/>
            <a:ext cx="66675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450" name="Google Shape;450;p35"/>
          <p:cNvSpPr txBox="1"/>
          <p:nvPr/>
        </p:nvSpPr>
        <p:spPr>
          <a:xfrm>
            <a:off x="6715125" y="4224337"/>
            <a:ext cx="4524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Modèle Validé</a:t>
            </a:r>
            <a:endParaRPr/>
          </a:p>
        </p:txBody>
      </p:sp>
      <p:sp>
        <p:nvSpPr>
          <p:cNvPr id="451" name="Google Shape;451;p35"/>
          <p:cNvSpPr txBox="1"/>
          <p:nvPr/>
        </p:nvSpPr>
        <p:spPr>
          <a:xfrm>
            <a:off x="904875" y="2633662"/>
            <a:ext cx="4953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Contributions 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Vérification que les axes ne sont pas déterminés par un seul individu aberrant ou une modalité rare.</a:t>
            </a:r>
            <a:endParaRPr/>
          </a:p>
        </p:txBody>
      </p:sp>
      <p:sp>
        <p:nvSpPr>
          <p:cNvPr id="452" name="Google Shape;452;p35"/>
          <p:cNvSpPr txBox="1"/>
          <p:nvPr/>
        </p:nvSpPr>
        <p:spPr>
          <a:xfrm>
            <a:off x="904875" y="3738562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Bootstrap 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Test de la stabilité des clusters par rééchantillonnage.</a:t>
            </a:r>
            <a:endParaRPr/>
          </a:p>
        </p:txBody>
      </p:sp>
      <p:sp>
        <p:nvSpPr>
          <p:cNvPr id="453" name="Google Shape;453;p35"/>
          <p:cNvSpPr txBox="1"/>
          <p:nvPr/>
        </p:nvSpPr>
        <p:spPr>
          <a:xfrm>
            <a:off x="904875" y="4538662"/>
            <a:ext cx="4953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Variables supplémentaires 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Projection de variables illustratives (non actives) pour confirmer l'interprétation.</a:t>
            </a:r>
            <a:endParaRPr/>
          </a:p>
        </p:txBody>
      </p:sp>
      <p:sp>
        <p:nvSpPr>
          <p:cNvPr id="454" name="Google Shape;454;p35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Validation de la Représentation</a:t>
            </a:r>
            <a:endParaRPr/>
          </a:p>
        </p:txBody>
      </p:sp>
      <p:sp>
        <p:nvSpPr>
          <p:cNvPr id="455" name="Google Shape;455;p35"/>
          <p:cNvSpPr/>
          <p:nvPr/>
        </p:nvSpPr>
        <p:spPr>
          <a:xfrm>
            <a:off x="571500" y="12096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56" name="Google Shape;456;p3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67176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7" name="Google Shape;457;p3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77666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8" name="Google Shape;458;p3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576762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3" name="Google Shape;463;p3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64" name="Google Shape;464;p36"/>
          <p:cNvSpPr/>
          <p:nvPr/>
        </p:nvSpPr>
        <p:spPr>
          <a:xfrm>
            <a:off x="571500" y="2409825"/>
            <a:ext cx="11049000" cy="298132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65" name="Google Shape;465;p36"/>
          <p:cNvGraphicFramePr/>
          <p:nvPr/>
        </p:nvGraphicFramePr>
        <p:xfrm>
          <a:off x="571500" y="2409825"/>
          <a:ext cx="11049000" cy="2981375"/>
        </p:xfrm>
        <a:graphic>
          <a:graphicData uri="http://schemas.openxmlformats.org/drawingml/2006/table">
            <a:tbl>
              <a:tblPr firstRow="1" bandRow="1">
                <a:noFill/>
                <a:tableStyleId>{8133A3B1-2AAF-4FDF-9837-24344F116CD6}</a:tableStyleId>
              </a:tblPr>
              <a:tblGrid>
                <a:gridCol w="1914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34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99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6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Critère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ACP (Principal Component Analysis)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AFCM (Multiple Correspondence Analysis)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6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475569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Données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Quantitatives Continues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Qualitatives (Catégorielles)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6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475569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Objectif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Résumé de Variance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Étude des Associations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6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475569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Métrique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Distance Euclidienne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Distance du Chi-2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6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475569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Interprétation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Corrélations linéaires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Proximité de profils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66" name="Google Shape;466;p36"/>
          <p:cNvSpPr/>
          <p:nvPr/>
        </p:nvSpPr>
        <p:spPr>
          <a:xfrm>
            <a:off x="571500" y="3586162"/>
            <a:ext cx="191467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36"/>
          <p:cNvSpPr/>
          <p:nvPr/>
        </p:nvSpPr>
        <p:spPr>
          <a:xfrm>
            <a:off x="2486173" y="3586162"/>
            <a:ext cx="423475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36"/>
          <p:cNvSpPr/>
          <p:nvPr/>
        </p:nvSpPr>
        <p:spPr>
          <a:xfrm>
            <a:off x="6720929" y="3586162"/>
            <a:ext cx="489957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36"/>
          <p:cNvSpPr/>
          <p:nvPr/>
        </p:nvSpPr>
        <p:spPr>
          <a:xfrm>
            <a:off x="571500" y="4186237"/>
            <a:ext cx="191467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36"/>
          <p:cNvSpPr/>
          <p:nvPr/>
        </p:nvSpPr>
        <p:spPr>
          <a:xfrm>
            <a:off x="2486173" y="4186237"/>
            <a:ext cx="423475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36"/>
          <p:cNvSpPr/>
          <p:nvPr/>
        </p:nvSpPr>
        <p:spPr>
          <a:xfrm>
            <a:off x="6720929" y="4186237"/>
            <a:ext cx="489957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36"/>
          <p:cNvSpPr/>
          <p:nvPr/>
        </p:nvSpPr>
        <p:spPr>
          <a:xfrm>
            <a:off x="571500" y="4786312"/>
            <a:ext cx="191467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36"/>
          <p:cNvSpPr/>
          <p:nvPr/>
        </p:nvSpPr>
        <p:spPr>
          <a:xfrm>
            <a:off x="2486173" y="4786312"/>
            <a:ext cx="423475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36"/>
          <p:cNvSpPr/>
          <p:nvPr/>
        </p:nvSpPr>
        <p:spPr>
          <a:xfrm>
            <a:off x="6720929" y="4786312"/>
            <a:ext cx="489957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36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Synthèse Comparative : ACP vs AFCM</a:t>
            </a:r>
            <a:endParaRPr/>
          </a:p>
        </p:txBody>
      </p:sp>
      <p:sp>
        <p:nvSpPr>
          <p:cNvPr id="476" name="Google Shape;476;p36"/>
          <p:cNvSpPr/>
          <p:nvPr/>
        </p:nvSpPr>
        <p:spPr>
          <a:xfrm>
            <a:off x="571500" y="12096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" name="Google Shape;481;p3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2" name="Google Shape;482;p3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514475"/>
            <a:ext cx="5286375" cy="4772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3" name="Google Shape;483;p3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1514475"/>
            <a:ext cx="5286375" cy="4772025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37"/>
          <p:cNvSpPr txBox="1"/>
          <p:nvPr/>
        </p:nvSpPr>
        <p:spPr>
          <a:xfrm>
            <a:off x="952500" y="2890837"/>
            <a:ext cx="4750593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Hypothèse de Linéarité</a:t>
            </a:r>
            <a:endParaRPr/>
          </a:p>
        </p:txBody>
      </p:sp>
      <p:sp>
        <p:nvSpPr>
          <p:cNvPr id="485" name="Google Shape;485;p37"/>
          <p:cNvSpPr txBox="1"/>
          <p:nvPr/>
        </p:nvSpPr>
        <p:spPr>
          <a:xfrm>
            <a:off x="952500" y="3548062"/>
            <a:ext cx="4524375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L'ACP capture mal les relations non-linéaires (en forme de U par exemple). Des méthodes comme les Kernel PCA peuvent être nécessaires pour des structures complexes.</a:t>
            </a:r>
            <a:endParaRPr/>
          </a:p>
        </p:txBody>
      </p:sp>
      <p:sp>
        <p:nvSpPr>
          <p:cNvPr id="486" name="Google Shape;486;p37"/>
          <p:cNvSpPr txBox="1"/>
          <p:nvPr/>
        </p:nvSpPr>
        <p:spPr>
          <a:xfrm>
            <a:off x="6715125" y="3043237"/>
            <a:ext cx="4750593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Sensibilité aux Modalités Rares</a:t>
            </a:r>
            <a:endParaRPr/>
          </a:p>
        </p:txBody>
      </p:sp>
      <p:sp>
        <p:nvSpPr>
          <p:cNvPr id="487" name="Google Shape;487;p37"/>
          <p:cNvSpPr txBox="1"/>
          <p:nvPr/>
        </p:nvSpPr>
        <p:spPr>
          <a:xfrm>
            <a:off x="6715125" y="3700462"/>
            <a:ext cx="45243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En AFCM, une modalité avec très peu d'effectif peut "tirer" un axe à elle seule, faussant l'analyse globale. Le nettoyage préalable est crucial.</a:t>
            </a:r>
            <a:endParaRPr/>
          </a:p>
        </p:txBody>
      </p:sp>
      <p:sp>
        <p:nvSpPr>
          <p:cNvPr id="488" name="Google Shape;488;p37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Limites Critiques</a:t>
            </a:r>
            <a:endParaRPr/>
          </a:p>
        </p:txBody>
      </p:sp>
      <p:sp>
        <p:nvSpPr>
          <p:cNvPr id="489" name="Google Shape;489;p37"/>
          <p:cNvSpPr/>
          <p:nvPr/>
        </p:nvSpPr>
        <p:spPr>
          <a:xfrm>
            <a:off x="571500" y="12096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5" name="Google Shape;545;p4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0629" y="7832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46" name="Google Shape;546;p41"/>
          <p:cNvSpPr txBox="1"/>
          <p:nvPr/>
        </p:nvSpPr>
        <p:spPr>
          <a:xfrm>
            <a:off x="295275" y="1830734"/>
            <a:ext cx="11601450" cy="670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Conclusion Générale</a:t>
            </a:r>
            <a:endParaRPr/>
          </a:p>
        </p:txBody>
      </p:sp>
      <p:sp>
        <p:nvSpPr>
          <p:cNvPr id="547" name="Google Shape;547;p41"/>
          <p:cNvSpPr/>
          <p:nvPr/>
        </p:nvSpPr>
        <p:spPr>
          <a:xfrm>
            <a:off x="5619750" y="2977455"/>
            <a:ext cx="952500" cy="571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41"/>
          <p:cNvSpPr txBox="1"/>
          <p:nvPr/>
        </p:nvSpPr>
        <p:spPr>
          <a:xfrm>
            <a:off x="1809750" y="3320355"/>
            <a:ext cx="8572500" cy="1706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La maîtrise des outils factoriels permet de transformer la donnée brute et hétérogène en savoir actionnable, répondant ainsi aux objectifs stratégiques de gestion des risques et d'optimisation sociale.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3" name="Google Shape;553;p4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55" name="Google Shape;555;p42"/>
          <p:cNvSpPr txBox="1"/>
          <p:nvPr/>
        </p:nvSpPr>
        <p:spPr>
          <a:xfrm>
            <a:off x="295275" y="1351657"/>
            <a:ext cx="11601450" cy="923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Merci !</a:t>
            </a:r>
            <a:endParaRPr/>
          </a:p>
        </p:txBody>
      </p:sp>
      <p:sp>
        <p:nvSpPr>
          <p:cNvPr id="556" name="Google Shape;556;p42"/>
          <p:cNvSpPr txBox="1"/>
          <p:nvPr/>
        </p:nvSpPr>
        <p:spPr>
          <a:xfrm>
            <a:off x="571500" y="2866132"/>
            <a:ext cx="11049000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Avez-vous des questions 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</TotalTime>
  <Words>1394</Words>
  <Application>Microsoft Office PowerPoint</Application>
  <PresentationFormat>Widescreen</PresentationFormat>
  <Paragraphs>179</Paragraphs>
  <Slides>31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9" baseType="lpstr">
      <vt:lpstr>Bahnschrift</vt:lpstr>
      <vt:lpstr>Arial</vt:lpstr>
      <vt:lpstr>Calibri</vt:lpstr>
      <vt:lpstr>DM Sans</vt:lpstr>
      <vt:lpstr>Urbanist</vt:lpstr>
      <vt:lpstr>Open Sans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pc</dc:creator>
  <cp:lastModifiedBy>yahia khroufi</cp:lastModifiedBy>
  <cp:revision>4</cp:revision>
  <dcterms:modified xsi:type="dcterms:W3CDTF">2026-02-15T19:14:35Z</dcterms:modified>
</cp:coreProperties>
</file>